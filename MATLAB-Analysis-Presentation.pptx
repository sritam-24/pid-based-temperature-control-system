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6" d="100"/>
          <a:sy n="56" d="100"/>
        </p:scale>
        <p:origin x="106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85E11-0CC0-7211-FC6C-F1E26D7C3F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B01326-7562-B9EF-D06F-293B076546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99FC8F-D644-A010-7F41-3B25DC007326}"/>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5" name="Footer Placeholder 4">
            <a:extLst>
              <a:ext uri="{FF2B5EF4-FFF2-40B4-BE49-F238E27FC236}">
                <a16:creationId xmlns:a16="http://schemas.microsoft.com/office/drawing/2014/main" id="{46553F97-98E2-9CA4-6683-36E9FAB810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DCF491-DCD9-8667-C5C7-C9782ADE1F37}"/>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117312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9BC8F-BC8B-8EB7-A505-E9B1890F2B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82F72A-2E34-BF0B-2170-E0B647F4F0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2FA56-B6ED-44FC-7426-7F759EEF5A8B}"/>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5" name="Footer Placeholder 4">
            <a:extLst>
              <a:ext uri="{FF2B5EF4-FFF2-40B4-BE49-F238E27FC236}">
                <a16:creationId xmlns:a16="http://schemas.microsoft.com/office/drawing/2014/main" id="{8F74481B-D996-35BA-2645-63D1AA8949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9A07BA-1592-2B54-2AD3-AC3305244AFD}"/>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2230157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B137F-495E-46B7-F489-9D485A22EA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EE98B5-8DCF-6CEE-5D5D-C89EDACCF5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5942A4-24D2-FEDD-29C0-A1DBA821CBED}"/>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5" name="Footer Placeholder 4">
            <a:extLst>
              <a:ext uri="{FF2B5EF4-FFF2-40B4-BE49-F238E27FC236}">
                <a16:creationId xmlns:a16="http://schemas.microsoft.com/office/drawing/2014/main" id="{89E06CC5-6975-DA3A-3BD5-BE0AB5D58B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CBD6ED-828F-184F-2636-C1904E4C2150}"/>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1017273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A7DAE-777E-CBF4-0661-F820BF99C8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75AC78-0498-C713-F453-554523F126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5A7CE5-F666-C5FC-D3BA-294B078383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D20671-8DF0-E736-D404-25E73D819242}"/>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6" name="Footer Placeholder 5">
            <a:extLst>
              <a:ext uri="{FF2B5EF4-FFF2-40B4-BE49-F238E27FC236}">
                <a16:creationId xmlns:a16="http://schemas.microsoft.com/office/drawing/2014/main" id="{991A3B10-1EBF-1A07-559B-2684FBBDD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C3AD64-075A-05C0-4240-FDADB436C68C}"/>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1369222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91C44-ADCD-3023-9314-84900F8193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B4E060-A235-41F9-2240-744A6491DB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2590AC-966F-C7A9-FB38-72D8C48BAC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E4E7E3-68A4-BBCF-B133-EDD12DA77A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410413-6FA9-69D2-BE67-D4C6E8804B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E2753D-8843-85B2-65A9-568DA9C5595A}"/>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8" name="Footer Placeholder 7">
            <a:extLst>
              <a:ext uri="{FF2B5EF4-FFF2-40B4-BE49-F238E27FC236}">
                <a16:creationId xmlns:a16="http://schemas.microsoft.com/office/drawing/2014/main" id="{DB7262C0-9E39-3654-DB1B-A3202732F8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5BFF6C-C23D-C0C1-E20F-61E3AB308341}"/>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4275287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609D9-5752-0665-D1E0-9CEFDA6E9B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EC8B68-DBA5-D327-D88E-01412647A439}"/>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4" name="Footer Placeholder 3">
            <a:extLst>
              <a:ext uri="{FF2B5EF4-FFF2-40B4-BE49-F238E27FC236}">
                <a16:creationId xmlns:a16="http://schemas.microsoft.com/office/drawing/2014/main" id="{E2532545-B126-4575-643E-A854A557D3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17F836-A22D-E918-02FF-D02B308992F5}"/>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3525254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48CFB4-946A-220E-48F1-1318A851572F}"/>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3" name="Footer Placeholder 2">
            <a:extLst>
              <a:ext uri="{FF2B5EF4-FFF2-40B4-BE49-F238E27FC236}">
                <a16:creationId xmlns:a16="http://schemas.microsoft.com/office/drawing/2014/main" id="{B89AFCDE-87E0-ABAD-9703-3FEEDD3FA5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0B8F75-1AD5-A9A0-0334-7C021684500B}"/>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3736451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49FBC-CF25-1B61-DBC8-94CEA1F552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6A511B-FA19-066A-A7EB-3C0161A0BC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70192D-C98E-8427-654F-F5D29F2A35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40C67E-3D36-E2E6-C2F9-A21976B004AC}"/>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6" name="Footer Placeholder 5">
            <a:extLst>
              <a:ext uri="{FF2B5EF4-FFF2-40B4-BE49-F238E27FC236}">
                <a16:creationId xmlns:a16="http://schemas.microsoft.com/office/drawing/2014/main" id="{798ECCDB-8795-6886-7976-4959C27EC9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8CDB2B-C68C-DEC9-5FBB-2E516CBE43E8}"/>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44875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B744A-C3A3-A0F5-E6E6-775C1F228B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986AEF-78F2-F5D0-3C11-E7DFB0FEF7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5E3152-DC87-7339-4EBC-CB90A2F6A7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E12DE3-5CB8-A79C-9F43-D7CE0A90F736}"/>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6" name="Footer Placeholder 5">
            <a:extLst>
              <a:ext uri="{FF2B5EF4-FFF2-40B4-BE49-F238E27FC236}">
                <a16:creationId xmlns:a16="http://schemas.microsoft.com/office/drawing/2014/main" id="{4D762CB0-4D38-4481-FEC4-EFAA62758B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EE9C61-6C94-AD05-8C4E-284B076A676B}"/>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2654020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0F1D3-88FB-F5BB-D3A7-B13F982C48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5A5E80-DCCE-11CC-50CB-F911AE70E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54C1FF-F223-9732-5F6E-8DE428E3C8C9}"/>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5" name="Footer Placeholder 4">
            <a:extLst>
              <a:ext uri="{FF2B5EF4-FFF2-40B4-BE49-F238E27FC236}">
                <a16:creationId xmlns:a16="http://schemas.microsoft.com/office/drawing/2014/main" id="{CB8DECB6-E725-0154-7A6C-BFD169F5F2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FFB37-6664-4A7B-686A-64ACAA677627}"/>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3642887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E670F1-CC0D-4C9B-251D-9B5122FA4F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B6C271-1616-D98D-81D6-CAB9CB938F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95CCCE-911F-1359-6423-B27847040565}"/>
              </a:ext>
            </a:extLst>
          </p:cNvPr>
          <p:cNvSpPr>
            <a:spLocks noGrp="1"/>
          </p:cNvSpPr>
          <p:nvPr>
            <p:ph type="dt" sz="half" idx="10"/>
          </p:nvPr>
        </p:nvSpPr>
        <p:spPr/>
        <p:txBody>
          <a:bodyPr/>
          <a:lstStyle/>
          <a:p>
            <a:fld id="{CEC88536-E20D-4278-890F-4E32856AD00A}" type="datetimeFigureOut">
              <a:rPr lang="en-US" smtClean="0"/>
              <a:t>5/18/2026</a:t>
            </a:fld>
            <a:endParaRPr lang="en-US"/>
          </a:p>
        </p:txBody>
      </p:sp>
      <p:sp>
        <p:nvSpPr>
          <p:cNvPr id="5" name="Footer Placeholder 4">
            <a:extLst>
              <a:ext uri="{FF2B5EF4-FFF2-40B4-BE49-F238E27FC236}">
                <a16:creationId xmlns:a16="http://schemas.microsoft.com/office/drawing/2014/main" id="{99971E84-3954-D388-6327-EAC475D57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54EAFB-65D8-B014-53AE-35F94397C298}"/>
              </a:ext>
            </a:extLst>
          </p:cNvPr>
          <p:cNvSpPr>
            <a:spLocks noGrp="1"/>
          </p:cNvSpPr>
          <p:nvPr>
            <p:ph type="sldNum" sz="quarter" idx="12"/>
          </p:nvPr>
        </p:nvSpPr>
        <p:spPr/>
        <p:txBody>
          <a:bodyPr/>
          <a:lstStyle/>
          <a:p>
            <a:fld id="{7187905C-069C-4F00-A1F4-5C999F3567C3}" type="slidenum">
              <a:rPr lang="en-US" smtClean="0"/>
              <a:t>‹#›</a:t>
            </a:fld>
            <a:endParaRPr lang="en-US"/>
          </a:p>
        </p:txBody>
      </p:sp>
    </p:spTree>
    <p:extLst>
      <p:ext uri="{BB962C8B-B14F-4D97-AF65-F5344CB8AC3E}">
        <p14:creationId xmlns:p14="http://schemas.microsoft.com/office/powerpoint/2010/main" val="3035375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3ED702-AFC0-333B-DFC8-80B32ADBC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A5EB5D-60B3-8C45-ACC0-156180F910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3AA402-968F-E2EB-C1F0-91141146B1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C88536-E20D-4278-890F-4E32856AD00A}" type="datetimeFigureOut">
              <a:rPr lang="en-US" smtClean="0"/>
              <a:t>5/18/2026</a:t>
            </a:fld>
            <a:endParaRPr lang="en-US"/>
          </a:p>
        </p:txBody>
      </p:sp>
      <p:sp>
        <p:nvSpPr>
          <p:cNvPr id="5" name="Footer Placeholder 4">
            <a:extLst>
              <a:ext uri="{FF2B5EF4-FFF2-40B4-BE49-F238E27FC236}">
                <a16:creationId xmlns:a16="http://schemas.microsoft.com/office/drawing/2014/main" id="{AC59687F-4D41-4BE6-FDE5-98C184C000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88ABF8-7C2C-B4D4-43BC-E5576DEDC5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87905C-069C-4F00-A1F4-5C999F3567C3}" type="slidenum">
              <a:rPr lang="en-US" smtClean="0"/>
              <a:t>‹#›</a:t>
            </a:fld>
            <a:endParaRPr lang="en-US"/>
          </a:p>
        </p:txBody>
      </p:sp>
    </p:spTree>
    <p:extLst>
      <p:ext uri="{BB962C8B-B14F-4D97-AF65-F5344CB8AC3E}">
        <p14:creationId xmlns:p14="http://schemas.microsoft.com/office/powerpoint/2010/main" val="4261695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10C5DB-A872-F00B-946A-6DA19533B977}"/>
              </a:ext>
            </a:extLst>
          </p:cNvPr>
          <p:cNvSpPr>
            <a:spLocks noGrp="1"/>
          </p:cNvSpPr>
          <p:nvPr>
            <p:ph type="ctrTitle"/>
          </p:nvPr>
        </p:nvSpPr>
        <p:spPr>
          <a:xfrm>
            <a:off x="1386865" y="818984"/>
            <a:ext cx="6596245" cy="3268520"/>
          </a:xfrm>
        </p:spPr>
        <p:txBody>
          <a:bodyPr>
            <a:normAutofit/>
          </a:bodyPr>
          <a:lstStyle/>
          <a:p>
            <a:pPr algn="r"/>
            <a:r>
              <a:rPr lang="en-US" sz="4800" b="1" dirty="0">
                <a:solidFill>
                  <a:srgbClr val="FFFFFF"/>
                </a:solidFill>
              </a:rPr>
              <a:t>TEMPERATURE CONTROL SYSTEM MATLAB ANALYSIS</a:t>
            </a:r>
            <a:endParaRPr lang="en-US" sz="4800" dirty="0">
              <a:solidFill>
                <a:srgbClr val="FFFFFF"/>
              </a:solidFill>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7FB439E-8AF0-82A2-9FA5-5D091E1F424E}"/>
              </a:ext>
            </a:extLst>
          </p:cNvPr>
          <p:cNvSpPr>
            <a:spLocks noGrp="1"/>
          </p:cNvSpPr>
          <p:nvPr>
            <p:ph type="subTitle" idx="1"/>
          </p:nvPr>
        </p:nvSpPr>
        <p:spPr>
          <a:xfrm>
            <a:off x="1931874" y="4797188"/>
            <a:ext cx="6051236" cy="1241828"/>
          </a:xfrm>
        </p:spPr>
        <p:txBody>
          <a:bodyPr>
            <a:normAutofit/>
          </a:bodyPr>
          <a:lstStyle/>
          <a:p>
            <a:pPr algn="r"/>
            <a:r>
              <a:rPr lang="en-US" b="1">
                <a:solidFill>
                  <a:srgbClr val="FFFFFF"/>
                </a:solidFill>
              </a:rPr>
              <a:t>Presented By: Syed Shaftain Ali Kazmi</a:t>
            </a:r>
          </a:p>
          <a:p>
            <a:pPr algn="r"/>
            <a:r>
              <a:rPr lang="en-US" b="1">
                <a:solidFill>
                  <a:srgbClr val="FFFFFF"/>
                </a:solidFill>
              </a:rPr>
              <a:t>                          Ali Zaman</a:t>
            </a:r>
          </a:p>
          <a:p>
            <a:pPr algn="r"/>
            <a:endParaRPr lang="en-US">
              <a:solidFill>
                <a:srgbClr val="FFFFFF"/>
              </a:solidFill>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9511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292502-6EBD-BBD2-C389-56322603EC82}"/>
              </a:ext>
            </a:extLst>
          </p:cNvPr>
          <p:cNvSpPr>
            <a:spLocks noGrp="1"/>
          </p:cNvSpPr>
          <p:nvPr>
            <p:ph type="title"/>
          </p:nvPr>
        </p:nvSpPr>
        <p:spPr>
          <a:xfrm>
            <a:off x="838200" y="1412488"/>
            <a:ext cx="2899189" cy="4363844"/>
          </a:xfrm>
        </p:spPr>
        <p:txBody>
          <a:bodyPr anchor="t">
            <a:normAutofit/>
          </a:bodyPr>
          <a:lstStyle/>
          <a:p>
            <a:r>
              <a:rPr lang="en-US" sz="4000" b="1">
                <a:solidFill>
                  <a:srgbClr val="FFFFFF"/>
                </a:solidFill>
              </a:rPr>
              <a:t>Open loop system :</a:t>
            </a:r>
            <a:endParaRPr lang="en-US" sz="4000">
              <a:solidFill>
                <a:srgbClr val="FFFFFF"/>
              </a:solidFill>
            </a:endParaRPr>
          </a:p>
        </p:txBody>
      </p:sp>
      <p:sp>
        <p:nvSpPr>
          <p:cNvPr id="3" name="Content Placeholder 2">
            <a:extLst>
              <a:ext uri="{FF2B5EF4-FFF2-40B4-BE49-F238E27FC236}">
                <a16:creationId xmlns:a16="http://schemas.microsoft.com/office/drawing/2014/main" id="{3F6BD39D-C674-A644-F74D-1869340EA432}"/>
              </a:ext>
            </a:extLst>
          </p:cNvPr>
          <p:cNvSpPr>
            <a:spLocks noGrp="1"/>
          </p:cNvSpPr>
          <p:nvPr>
            <p:ph sz="half" idx="1"/>
          </p:nvPr>
        </p:nvSpPr>
        <p:spPr>
          <a:xfrm>
            <a:off x="4380855" y="1412489"/>
            <a:ext cx="3427283" cy="4363844"/>
          </a:xfrm>
        </p:spPr>
        <p:txBody>
          <a:bodyPr>
            <a:normAutofit/>
          </a:bodyPr>
          <a:lstStyle/>
          <a:p>
            <a:pPr marL="0" indent="0">
              <a:buNone/>
            </a:pPr>
            <a:r>
              <a:rPr lang="en-US" sz="1900" b="1"/>
              <a:t> Code: </a:t>
            </a:r>
          </a:p>
          <a:p>
            <a:pPr marL="0" indent="0">
              <a:buNone/>
            </a:pPr>
            <a:r>
              <a:rPr lang="en-US" sz="1900"/>
              <a:t>clc;</a:t>
            </a:r>
          </a:p>
          <a:p>
            <a:pPr marL="0" indent="0">
              <a:buNone/>
            </a:pPr>
            <a:r>
              <a:rPr lang="en-US" sz="1900"/>
              <a:t>clear;</a:t>
            </a:r>
          </a:p>
          <a:p>
            <a:pPr marL="0" indent="0">
              <a:buNone/>
            </a:pPr>
            <a:r>
              <a:rPr lang="en-US" sz="1900"/>
              <a:t>close all;</a:t>
            </a:r>
          </a:p>
          <a:p>
            <a:pPr marL="0" indent="0">
              <a:buNone/>
            </a:pPr>
            <a:r>
              <a:rPr lang="en-US" sz="1900"/>
              <a:t>% Transfer Function</a:t>
            </a:r>
          </a:p>
          <a:p>
            <a:pPr marL="0" indent="0">
              <a:buNone/>
            </a:pPr>
            <a:r>
              <a:rPr lang="en-US" sz="1900"/>
              <a:t>num = [1];</a:t>
            </a:r>
          </a:p>
          <a:p>
            <a:pPr marL="0" indent="0">
              <a:buNone/>
            </a:pPr>
            <a:r>
              <a:rPr lang="en-US" sz="1900"/>
              <a:t>den = [10 1];</a:t>
            </a:r>
          </a:p>
          <a:p>
            <a:pPr marL="0" indent="0">
              <a:buNone/>
            </a:pPr>
            <a:r>
              <a:rPr lang="en-US" sz="1900"/>
              <a:t>G = tf(num, den)</a:t>
            </a:r>
          </a:p>
          <a:p>
            <a:pPr marL="0" indent="0">
              <a:buNone/>
            </a:pPr>
            <a:r>
              <a:rPr lang="en-US" sz="1900"/>
              <a:t>% Step Response</a:t>
            </a:r>
          </a:p>
          <a:p>
            <a:pPr marL="0" indent="0">
              <a:buNone/>
            </a:pPr>
            <a:r>
              <a:rPr lang="en-US" sz="1900"/>
              <a:t>figure;</a:t>
            </a:r>
          </a:p>
          <a:p>
            <a:pPr marL="0" indent="0">
              <a:buNone/>
            </a:pPr>
            <a:r>
              <a:rPr lang="en-US" sz="1900"/>
              <a:t>step(G);</a:t>
            </a:r>
          </a:p>
          <a:p>
            <a:pPr marL="0" indent="0">
              <a:buNone/>
            </a:pPr>
            <a:endParaRPr lang="en-US" sz="1900"/>
          </a:p>
        </p:txBody>
      </p:sp>
      <p:cxnSp>
        <p:nvCxnSpPr>
          <p:cNvPr id="20" name="Straight Connector 19">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4C05833-0F90-92C4-52BE-2B62A15EEAAB}"/>
              </a:ext>
            </a:extLst>
          </p:cNvPr>
          <p:cNvSpPr>
            <a:spLocks noGrp="1"/>
          </p:cNvSpPr>
          <p:nvPr>
            <p:ph sz="half" idx="2"/>
          </p:nvPr>
        </p:nvSpPr>
        <p:spPr>
          <a:xfrm>
            <a:off x="8451604" y="1412489"/>
            <a:ext cx="3197701" cy="4363844"/>
          </a:xfrm>
        </p:spPr>
        <p:txBody>
          <a:bodyPr>
            <a:normAutofit/>
          </a:bodyPr>
          <a:lstStyle/>
          <a:p>
            <a:pPr marL="0" indent="0">
              <a:buNone/>
            </a:pPr>
            <a:r>
              <a:rPr lang="en-US" sz="1700"/>
              <a:t>grid on;</a:t>
            </a:r>
          </a:p>
          <a:p>
            <a:pPr marL="0" indent="0">
              <a:buNone/>
            </a:pPr>
            <a:r>
              <a:rPr lang="en-US" sz="1700"/>
              <a:t>title('Open Loop Step Response');</a:t>
            </a:r>
          </a:p>
          <a:p>
            <a:pPr marL="0" indent="0">
              <a:buNone/>
            </a:pPr>
            <a:r>
              <a:rPr lang="en-US" sz="1700"/>
              <a:t>% Poles and Zeros</a:t>
            </a:r>
          </a:p>
          <a:p>
            <a:pPr marL="0" indent="0">
              <a:buNone/>
            </a:pPr>
            <a:r>
              <a:rPr lang="en-US" sz="1700"/>
              <a:t>figure;</a:t>
            </a:r>
          </a:p>
          <a:p>
            <a:pPr marL="0" indent="0">
              <a:buNone/>
            </a:pPr>
            <a:r>
              <a:rPr lang="en-US" sz="1700"/>
              <a:t>pzmap(G);</a:t>
            </a:r>
          </a:p>
          <a:p>
            <a:pPr marL="0" indent="0">
              <a:buNone/>
            </a:pPr>
            <a:r>
              <a:rPr lang="en-US" sz="1700"/>
              <a:t>grid on;</a:t>
            </a:r>
          </a:p>
          <a:p>
            <a:pPr marL="0" indent="0">
              <a:buNone/>
            </a:pPr>
            <a:r>
              <a:rPr lang="en-US" sz="1700"/>
              <a:t>title('Poles and Zeros');</a:t>
            </a:r>
          </a:p>
          <a:p>
            <a:pPr marL="0" indent="0">
              <a:buNone/>
            </a:pPr>
            <a:r>
              <a:rPr lang="en-US" sz="1700"/>
              <a:t>% System Information</a:t>
            </a:r>
          </a:p>
          <a:p>
            <a:pPr marL="0" indent="0">
              <a:buNone/>
            </a:pPr>
            <a:r>
              <a:rPr lang="en-US" sz="1700"/>
              <a:t>info = stepinfo(G)</a:t>
            </a:r>
          </a:p>
          <a:p>
            <a:pPr marL="0" indent="0">
              <a:buNone/>
            </a:pPr>
            <a:r>
              <a:rPr lang="en-US" sz="1700"/>
              <a:t>% Stability Check</a:t>
            </a:r>
          </a:p>
          <a:p>
            <a:pPr marL="0" indent="0">
              <a:buNone/>
            </a:pPr>
            <a:r>
              <a:rPr lang="en-US" sz="1700"/>
              <a:t>poles = pole(G)</a:t>
            </a:r>
          </a:p>
          <a:p>
            <a:pPr marL="0" indent="0">
              <a:buNone/>
            </a:pPr>
            <a:endParaRPr lang="en-US" sz="1700"/>
          </a:p>
        </p:txBody>
      </p:sp>
    </p:spTree>
    <p:extLst>
      <p:ext uri="{BB962C8B-B14F-4D97-AF65-F5344CB8AC3E}">
        <p14:creationId xmlns:p14="http://schemas.microsoft.com/office/powerpoint/2010/main" val="2870744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B4CB4A-9CDD-992F-EEAC-94BBCD0B1A9D}"/>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reeform: Shape 24">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02C154-3BA9-2AB6-B9A0-7BF753B1A981}"/>
              </a:ext>
            </a:extLst>
          </p:cNvPr>
          <p:cNvSpPr>
            <a:spLocks noGrp="1"/>
          </p:cNvSpPr>
          <p:nvPr>
            <p:ph type="title"/>
          </p:nvPr>
        </p:nvSpPr>
        <p:spPr>
          <a:xfrm>
            <a:off x="804672" y="1412489"/>
            <a:ext cx="2871095" cy="2156621"/>
          </a:xfrm>
        </p:spPr>
        <p:txBody>
          <a:bodyPr anchor="t">
            <a:normAutofit/>
          </a:bodyPr>
          <a:lstStyle/>
          <a:p>
            <a:r>
              <a:rPr lang="en-US" sz="3600" b="1">
                <a:solidFill>
                  <a:srgbClr val="FFFFFF"/>
                </a:solidFill>
              </a:rPr>
              <a:t>Output:</a:t>
            </a:r>
            <a:endParaRPr lang="en-US" sz="3600">
              <a:solidFill>
                <a:srgbClr val="FFFFFF"/>
              </a:solidFill>
            </a:endParaRPr>
          </a:p>
        </p:txBody>
      </p:sp>
      <p:sp>
        <p:nvSpPr>
          <p:cNvPr id="3" name="Content Placeholder 2">
            <a:extLst>
              <a:ext uri="{FF2B5EF4-FFF2-40B4-BE49-F238E27FC236}">
                <a16:creationId xmlns:a16="http://schemas.microsoft.com/office/drawing/2014/main" id="{AE0376B5-A494-7E7C-CDA0-015222066E90}"/>
              </a:ext>
            </a:extLst>
          </p:cNvPr>
          <p:cNvSpPr>
            <a:spLocks noGrp="1"/>
          </p:cNvSpPr>
          <p:nvPr>
            <p:ph sz="half" idx="1"/>
          </p:nvPr>
        </p:nvSpPr>
        <p:spPr>
          <a:xfrm>
            <a:off x="5198993" y="1412489"/>
            <a:ext cx="2926080" cy="4363844"/>
          </a:xfrm>
        </p:spPr>
        <p:txBody>
          <a:bodyPr>
            <a:normAutofit/>
          </a:bodyPr>
          <a:lstStyle/>
          <a:p>
            <a:pPr marL="0" indent="0">
              <a:buNone/>
            </a:pPr>
            <a:r>
              <a:rPr lang="en-US" sz="2000"/>
              <a:t> G =     1/  10 s + 1</a:t>
            </a:r>
          </a:p>
          <a:p>
            <a:pPr marL="0" indent="0">
              <a:buNone/>
            </a:pPr>
            <a:r>
              <a:rPr lang="en-US" sz="2000"/>
              <a:t> Continuous-time transfer function.</a:t>
            </a:r>
          </a:p>
          <a:p>
            <a:pPr marL="0" indent="0">
              <a:buNone/>
            </a:pPr>
            <a:r>
              <a:rPr lang="en-US" sz="2000"/>
              <a:t> Model Properties</a:t>
            </a:r>
          </a:p>
          <a:p>
            <a:pPr marL="0" indent="0">
              <a:buNone/>
            </a:pPr>
            <a:r>
              <a:rPr lang="en-US" sz="2000"/>
              <a:t> info =  struct with fields:</a:t>
            </a:r>
          </a:p>
          <a:p>
            <a:pPr marL="0" indent="0">
              <a:buNone/>
            </a:pPr>
            <a:r>
              <a:rPr lang="en-US" sz="2000"/>
              <a:t> RiseTime: 21.9701</a:t>
            </a:r>
          </a:p>
          <a:p>
            <a:pPr marL="0" indent="0">
              <a:buNone/>
            </a:pPr>
            <a:r>
              <a:rPr lang="en-US" sz="2000"/>
              <a:t> TransientTime: 39.1207</a:t>
            </a:r>
          </a:p>
          <a:p>
            <a:pPr marL="0" indent="0">
              <a:buNone/>
            </a:pPr>
            <a:r>
              <a:rPr lang="en-US" sz="2000"/>
              <a:t> SettlingTime: 39.1207</a:t>
            </a:r>
          </a:p>
          <a:p>
            <a:pPr marL="0" indent="0">
              <a:buNone/>
            </a:pPr>
            <a:r>
              <a:rPr lang="en-US" sz="2000"/>
              <a:t> SettlingMin: 0.9045</a:t>
            </a:r>
          </a:p>
          <a:p>
            <a:pPr marL="0" indent="0">
              <a:buNone/>
            </a:pPr>
            <a:r>
              <a:rPr lang="en-US" sz="2000"/>
              <a:t> SettlingMax: 0.9993</a:t>
            </a:r>
          </a:p>
          <a:p>
            <a:pPr marL="0" indent="0">
              <a:buNone/>
            </a:pPr>
            <a:r>
              <a:rPr lang="en-US" sz="2000"/>
              <a:t> Overshoot: 0</a:t>
            </a:r>
          </a:p>
          <a:p>
            <a:pPr marL="0" indent="0">
              <a:buNone/>
            </a:pPr>
            <a:endParaRPr lang="en-US" sz="2000"/>
          </a:p>
        </p:txBody>
      </p:sp>
      <p:sp>
        <p:nvSpPr>
          <p:cNvPr id="4" name="Content Placeholder 3">
            <a:extLst>
              <a:ext uri="{FF2B5EF4-FFF2-40B4-BE49-F238E27FC236}">
                <a16:creationId xmlns:a16="http://schemas.microsoft.com/office/drawing/2014/main" id="{DDE2B9D4-3953-1428-8D9C-389299D2DBCE}"/>
              </a:ext>
            </a:extLst>
          </p:cNvPr>
          <p:cNvSpPr>
            <a:spLocks noGrp="1"/>
          </p:cNvSpPr>
          <p:nvPr>
            <p:ph sz="half" idx="2"/>
          </p:nvPr>
        </p:nvSpPr>
        <p:spPr>
          <a:xfrm>
            <a:off x="8451604" y="1412489"/>
            <a:ext cx="2926080" cy="4363844"/>
          </a:xfrm>
        </p:spPr>
        <p:txBody>
          <a:bodyPr>
            <a:normAutofit/>
          </a:bodyPr>
          <a:lstStyle/>
          <a:p>
            <a:pPr marL="0" indent="0">
              <a:buNone/>
            </a:pPr>
            <a:r>
              <a:rPr lang="en-US" sz="2000"/>
              <a:t>  Undershoot: 0</a:t>
            </a:r>
          </a:p>
          <a:p>
            <a:pPr marL="0" indent="0">
              <a:buNone/>
            </a:pPr>
            <a:r>
              <a:rPr lang="en-US" sz="2000"/>
              <a:t>  Peak: 0.9993</a:t>
            </a:r>
          </a:p>
          <a:p>
            <a:pPr marL="0" indent="0">
              <a:buNone/>
            </a:pPr>
            <a:r>
              <a:rPr lang="en-US" sz="2000"/>
              <a:t>  PeakTime: 73.2222</a:t>
            </a:r>
          </a:p>
          <a:p>
            <a:pPr marL="0" indent="0">
              <a:buNone/>
            </a:pPr>
            <a:r>
              <a:rPr lang="en-US" sz="2000"/>
              <a:t>  poles =   -0.1000</a:t>
            </a:r>
          </a:p>
        </p:txBody>
      </p:sp>
    </p:spTree>
    <p:extLst>
      <p:ext uri="{BB962C8B-B14F-4D97-AF65-F5344CB8AC3E}">
        <p14:creationId xmlns:p14="http://schemas.microsoft.com/office/powerpoint/2010/main" val="2836120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E90EB45-EEE9-4563-8179-65EF62AE0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4C363E1-B49B-7731-6196-EF5666E52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0407" y="1730002"/>
            <a:ext cx="5372100" cy="3397996"/>
          </a:xfrm>
          <a:prstGeom prst="rect">
            <a:avLst/>
          </a:prstGeom>
        </p:spPr>
      </p:pic>
      <p:sp>
        <p:nvSpPr>
          <p:cNvPr id="22" name="Rectangle 21">
            <a:extLst>
              <a:ext uri="{FF2B5EF4-FFF2-40B4-BE49-F238E27FC236}">
                <a16:creationId xmlns:a16="http://schemas.microsoft.com/office/drawing/2014/main" id="{23D0EF74-AD1E-4FD9-914D-8EC9058EB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F11E036-026B-15E4-E85B-F023109739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828" y="1730002"/>
            <a:ext cx="5372099" cy="3397996"/>
          </a:xfrm>
          <a:prstGeom prst="rect">
            <a:avLst/>
          </a:prstGeom>
        </p:spPr>
      </p:pic>
    </p:spTree>
    <p:extLst>
      <p:ext uri="{BB962C8B-B14F-4D97-AF65-F5344CB8AC3E}">
        <p14:creationId xmlns:p14="http://schemas.microsoft.com/office/powerpoint/2010/main" val="1419913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221BAE-95A9-8AC1-0698-6DB4A1FABE2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AF0FE0F-DDC0-CBBE-BD25-4BD0A583F39B}"/>
              </a:ext>
            </a:extLst>
          </p:cNvPr>
          <p:cNvSpPr>
            <a:spLocks noGrp="1"/>
          </p:cNvSpPr>
          <p:nvPr>
            <p:ph type="title"/>
          </p:nvPr>
        </p:nvSpPr>
        <p:spPr>
          <a:xfrm>
            <a:off x="838200" y="1412488"/>
            <a:ext cx="2899189" cy="4363844"/>
          </a:xfrm>
        </p:spPr>
        <p:txBody>
          <a:bodyPr anchor="t">
            <a:normAutofit/>
          </a:bodyPr>
          <a:lstStyle/>
          <a:p>
            <a:r>
              <a:rPr lang="en-US" sz="4000" b="1">
                <a:solidFill>
                  <a:srgbClr val="FFFFFF"/>
                </a:solidFill>
              </a:rPr>
              <a:t>Closed loop system :</a:t>
            </a:r>
            <a:endParaRPr lang="en-US" sz="4000">
              <a:solidFill>
                <a:srgbClr val="FFFFFF"/>
              </a:solidFill>
            </a:endParaRPr>
          </a:p>
        </p:txBody>
      </p:sp>
      <p:sp>
        <p:nvSpPr>
          <p:cNvPr id="3" name="Content Placeholder 2">
            <a:extLst>
              <a:ext uri="{FF2B5EF4-FFF2-40B4-BE49-F238E27FC236}">
                <a16:creationId xmlns:a16="http://schemas.microsoft.com/office/drawing/2014/main" id="{A085FFB9-ABFA-8646-9C7E-1F034E767A38}"/>
              </a:ext>
            </a:extLst>
          </p:cNvPr>
          <p:cNvSpPr>
            <a:spLocks noGrp="1"/>
          </p:cNvSpPr>
          <p:nvPr>
            <p:ph sz="half" idx="1"/>
          </p:nvPr>
        </p:nvSpPr>
        <p:spPr>
          <a:xfrm>
            <a:off x="4380855" y="1412489"/>
            <a:ext cx="3427283" cy="4363844"/>
          </a:xfrm>
        </p:spPr>
        <p:txBody>
          <a:bodyPr>
            <a:normAutofit/>
          </a:bodyPr>
          <a:lstStyle/>
          <a:p>
            <a:pPr marL="0" indent="0">
              <a:buNone/>
            </a:pPr>
            <a:r>
              <a:rPr lang="en-US" sz="1600" b="1"/>
              <a:t> Code: </a:t>
            </a:r>
          </a:p>
          <a:p>
            <a:pPr marL="0" indent="0">
              <a:buNone/>
            </a:pPr>
            <a:r>
              <a:rPr lang="en-US" sz="1600"/>
              <a:t>clc;</a:t>
            </a:r>
          </a:p>
          <a:p>
            <a:pPr marL="0" indent="0">
              <a:buNone/>
            </a:pPr>
            <a:r>
              <a:rPr lang="en-US" sz="1600"/>
              <a:t>clear;</a:t>
            </a:r>
          </a:p>
          <a:p>
            <a:pPr marL="0" indent="0">
              <a:buNone/>
            </a:pPr>
            <a:r>
              <a:rPr lang="en-US" sz="1600"/>
              <a:t>close all;</a:t>
            </a:r>
          </a:p>
          <a:p>
            <a:pPr marL="0" indent="0">
              <a:buNone/>
            </a:pPr>
            <a:r>
              <a:rPr lang="en-US" sz="1600"/>
              <a:t>% Open Loop Transfer Function</a:t>
            </a:r>
          </a:p>
          <a:p>
            <a:pPr marL="0" indent="0">
              <a:buNone/>
            </a:pPr>
            <a:r>
              <a:rPr lang="en-US" sz="1600"/>
              <a:t>G = tf([1],[10 1]);</a:t>
            </a:r>
          </a:p>
          <a:p>
            <a:pPr marL="0" indent="0">
              <a:buNone/>
            </a:pPr>
            <a:r>
              <a:rPr lang="en-US" sz="1600"/>
              <a:t>% Closed Loop System with Unity Feedback</a:t>
            </a:r>
          </a:p>
          <a:p>
            <a:pPr marL="0" indent="0">
              <a:buNone/>
            </a:pPr>
            <a:r>
              <a:rPr lang="en-US" sz="1600"/>
              <a:t>T = feedback(G,1);</a:t>
            </a:r>
          </a:p>
          <a:p>
            <a:pPr marL="0" indent="0">
              <a:buNone/>
            </a:pPr>
            <a:r>
              <a:rPr lang="en-US" sz="1600"/>
              <a:t>% Display Closed Loop Transfer Function (T)</a:t>
            </a:r>
          </a:p>
          <a:p>
            <a:pPr marL="0" indent="0">
              <a:buNone/>
            </a:pPr>
            <a:r>
              <a:rPr lang="en-US" sz="1600"/>
              <a:t>% Step Response</a:t>
            </a:r>
          </a:p>
          <a:p>
            <a:pPr marL="0" indent="0">
              <a:buNone/>
            </a:pPr>
            <a:r>
              <a:rPr lang="en-US" sz="1600"/>
              <a:t>figure;</a:t>
            </a:r>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BAE98848-068D-0A5A-F2F4-C85C4E64C332}"/>
              </a:ext>
            </a:extLst>
          </p:cNvPr>
          <p:cNvSpPr>
            <a:spLocks noGrp="1"/>
          </p:cNvSpPr>
          <p:nvPr>
            <p:ph sz="half" idx="2"/>
          </p:nvPr>
        </p:nvSpPr>
        <p:spPr>
          <a:xfrm>
            <a:off x="8451604" y="1412489"/>
            <a:ext cx="3197701" cy="4363844"/>
          </a:xfrm>
        </p:spPr>
        <p:txBody>
          <a:bodyPr>
            <a:normAutofit/>
          </a:bodyPr>
          <a:lstStyle/>
          <a:p>
            <a:pPr marL="0" indent="0">
              <a:buNone/>
            </a:pPr>
            <a:r>
              <a:rPr lang="en-US" sz="1400"/>
              <a:t>step(T);</a:t>
            </a:r>
          </a:p>
          <a:p>
            <a:pPr marL="0" indent="0">
              <a:buNone/>
            </a:pPr>
            <a:r>
              <a:rPr lang="en-US" sz="1400"/>
              <a:t>grid on;</a:t>
            </a:r>
          </a:p>
          <a:p>
            <a:pPr marL="0" indent="0">
              <a:buNone/>
            </a:pPr>
            <a:r>
              <a:rPr lang="en-US" sz="1400"/>
              <a:t>title('Closed Loop Step Response');</a:t>
            </a:r>
          </a:p>
          <a:p>
            <a:pPr marL="0" indent="0">
              <a:buNone/>
            </a:pPr>
            <a:r>
              <a:rPr lang="en-US" sz="1400"/>
              <a:t>% Pole-Zero Map</a:t>
            </a:r>
          </a:p>
          <a:p>
            <a:pPr marL="0" indent="0">
              <a:buNone/>
            </a:pPr>
            <a:r>
              <a:rPr lang="en-US" sz="1400"/>
              <a:t>figure;</a:t>
            </a:r>
          </a:p>
          <a:p>
            <a:pPr marL="0" indent="0">
              <a:buNone/>
            </a:pPr>
            <a:r>
              <a:rPr lang="en-US" sz="1400"/>
              <a:t>pzmap(T);</a:t>
            </a:r>
          </a:p>
          <a:p>
            <a:pPr marL="0" indent="0">
              <a:buNone/>
            </a:pPr>
            <a:r>
              <a:rPr lang="en-US" sz="1400"/>
              <a:t>grid on;</a:t>
            </a:r>
          </a:p>
          <a:p>
            <a:pPr marL="0" indent="0">
              <a:buNone/>
            </a:pPr>
            <a:r>
              <a:rPr lang="en-US" sz="1400"/>
              <a:t>title('Closed Loop Poles and Zeros');</a:t>
            </a:r>
          </a:p>
          <a:p>
            <a:pPr marL="0" indent="0">
              <a:buNone/>
            </a:pPr>
            <a:r>
              <a:rPr lang="en-US" sz="1400"/>
              <a:t>% Performance Analysis</a:t>
            </a:r>
          </a:p>
          <a:p>
            <a:pPr marL="0" indent="0">
              <a:buNone/>
            </a:pPr>
            <a:r>
              <a:rPr lang="en-US" sz="1400"/>
              <a:t>info = stepinfo(T)</a:t>
            </a:r>
          </a:p>
          <a:p>
            <a:pPr marL="0" indent="0">
              <a:buNone/>
            </a:pPr>
            <a:r>
              <a:rPr lang="en-US" sz="1400"/>
              <a:t>% Poles</a:t>
            </a:r>
          </a:p>
          <a:p>
            <a:pPr marL="0" indent="0">
              <a:buNone/>
            </a:pPr>
            <a:r>
              <a:rPr lang="en-US" sz="1400"/>
              <a:t>poles = pole(T)</a:t>
            </a:r>
          </a:p>
          <a:p>
            <a:pPr marL="0" indent="0">
              <a:buNone/>
            </a:pPr>
            <a:endParaRPr lang="en-US" sz="1400"/>
          </a:p>
        </p:txBody>
      </p:sp>
    </p:spTree>
    <p:extLst>
      <p:ext uri="{BB962C8B-B14F-4D97-AF65-F5344CB8AC3E}">
        <p14:creationId xmlns:p14="http://schemas.microsoft.com/office/powerpoint/2010/main" val="3588574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9B83B7-20F9-5764-FB33-E0CBFB59EE7E}"/>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792334-BE77-F5F8-3211-F31AE47FEB7C}"/>
              </a:ext>
            </a:extLst>
          </p:cNvPr>
          <p:cNvSpPr>
            <a:spLocks noGrp="1"/>
          </p:cNvSpPr>
          <p:nvPr>
            <p:ph type="title"/>
          </p:nvPr>
        </p:nvSpPr>
        <p:spPr>
          <a:xfrm>
            <a:off x="804672" y="1412489"/>
            <a:ext cx="2871095" cy="2156621"/>
          </a:xfrm>
        </p:spPr>
        <p:txBody>
          <a:bodyPr anchor="t">
            <a:normAutofit/>
          </a:bodyPr>
          <a:lstStyle/>
          <a:p>
            <a:r>
              <a:rPr lang="en-US" sz="3600" b="1">
                <a:solidFill>
                  <a:srgbClr val="FFFFFF"/>
                </a:solidFill>
              </a:rPr>
              <a:t>Output:</a:t>
            </a:r>
            <a:endParaRPr lang="en-US" sz="3600">
              <a:solidFill>
                <a:srgbClr val="FFFFFF"/>
              </a:solidFill>
            </a:endParaRPr>
          </a:p>
        </p:txBody>
      </p:sp>
      <p:sp>
        <p:nvSpPr>
          <p:cNvPr id="3" name="Content Placeholder 2">
            <a:extLst>
              <a:ext uri="{FF2B5EF4-FFF2-40B4-BE49-F238E27FC236}">
                <a16:creationId xmlns:a16="http://schemas.microsoft.com/office/drawing/2014/main" id="{E760557C-8096-9FEB-8644-86C4F448F253}"/>
              </a:ext>
            </a:extLst>
          </p:cNvPr>
          <p:cNvSpPr>
            <a:spLocks noGrp="1"/>
          </p:cNvSpPr>
          <p:nvPr>
            <p:ph sz="half" idx="1"/>
          </p:nvPr>
        </p:nvSpPr>
        <p:spPr>
          <a:xfrm>
            <a:off x="5198993" y="1412489"/>
            <a:ext cx="2926080" cy="4363844"/>
          </a:xfrm>
        </p:spPr>
        <p:txBody>
          <a:bodyPr>
            <a:normAutofit/>
          </a:bodyPr>
          <a:lstStyle/>
          <a:p>
            <a:pPr marL="0" indent="0">
              <a:buNone/>
            </a:pPr>
            <a:r>
              <a:rPr lang="en-US" sz="1900"/>
              <a:t> T =     1 / 10 s + 2</a:t>
            </a:r>
          </a:p>
          <a:p>
            <a:pPr marL="0" indent="0">
              <a:buNone/>
            </a:pPr>
            <a:r>
              <a:rPr lang="en-US" sz="1900"/>
              <a:t> Continuous-time transfer </a:t>
            </a:r>
          </a:p>
          <a:p>
            <a:pPr marL="0" indent="0">
              <a:buNone/>
            </a:pPr>
            <a:r>
              <a:rPr lang="en-US" sz="1900"/>
              <a:t>  function.</a:t>
            </a:r>
          </a:p>
          <a:p>
            <a:pPr marL="0" indent="0">
              <a:buNone/>
            </a:pPr>
            <a:r>
              <a:rPr lang="en-US" sz="1900"/>
              <a:t>  Model Properties</a:t>
            </a:r>
          </a:p>
          <a:p>
            <a:pPr marL="0" indent="0">
              <a:buNone/>
            </a:pPr>
            <a:r>
              <a:rPr lang="en-US" sz="1900"/>
              <a:t>  info = </a:t>
            </a:r>
          </a:p>
          <a:p>
            <a:pPr marL="0" indent="0">
              <a:buNone/>
            </a:pPr>
            <a:r>
              <a:rPr lang="en-US" sz="1900"/>
              <a:t>  struct with fields:</a:t>
            </a:r>
          </a:p>
          <a:p>
            <a:pPr marL="0" indent="0">
              <a:buNone/>
            </a:pPr>
            <a:r>
              <a:rPr lang="en-US" sz="1900"/>
              <a:t>  RiseTime: 10.9850</a:t>
            </a:r>
          </a:p>
          <a:p>
            <a:pPr marL="0" indent="0">
              <a:buNone/>
            </a:pPr>
            <a:r>
              <a:rPr lang="en-US" sz="1900"/>
              <a:t>  TransientTime: 19.5604</a:t>
            </a:r>
          </a:p>
          <a:p>
            <a:pPr marL="0" indent="0">
              <a:buNone/>
            </a:pPr>
            <a:r>
              <a:rPr lang="en-US" sz="1900"/>
              <a:t>  SettlingTime: 19.5604</a:t>
            </a:r>
          </a:p>
          <a:p>
            <a:pPr marL="0" indent="0">
              <a:buNone/>
            </a:pPr>
            <a:r>
              <a:rPr lang="en-US" sz="1900"/>
              <a:t>  SettlingMin: 0.4523</a:t>
            </a:r>
          </a:p>
          <a:p>
            <a:pPr marL="0" indent="0">
              <a:buNone/>
            </a:pPr>
            <a:r>
              <a:rPr lang="en-US" sz="1900"/>
              <a:t>  SettlingMax: 0.4997</a:t>
            </a:r>
          </a:p>
        </p:txBody>
      </p:sp>
      <p:sp>
        <p:nvSpPr>
          <p:cNvPr id="4" name="Content Placeholder 3">
            <a:extLst>
              <a:ext uri="{FF2B5EF4-FFF2-40B4-BE49-F238E27FC236}">
                <a16:creationId xmlns:a16="http://schemas.microsoft.com/office/drawing/2014/main" id="{F6C04E83-AF38-5B7E-C9C3-BD76601C02AA}"/>
              </a:ext>
            </a:extLst>
          </p:cNvPr>
          <p:cNvSpPr>
            <a:spLocks noGrp="1"/>
          </p:cNvSpPr>
          <p:nvPr>
            <p:ph sz="half" idx="2"/>
          </p:nvPr>
        </p:nvSpPr>
        <p:spPr>
          <a:xfrm>
            <a:off x="8451604" y="1412489"/>
            <a:ext cx="2926080" cy="4363844"/>
          </a:xfrm>
        </p:spPr>
        <p:txBody>
          <a:bodyPr>
            <a:normAutofit/>
          </a:bodyPr>
          <a:lstStyle/>
          <a:p>
            <a:pPr marL="0" indent="0">
              <a:buNone/>
            </a:pPr>
            <a:r>
              <a:rPr lang="en-US" sz="2000"/>
              <a:t>  Overshoot: 0</a:t>
            </a:r>
          </a:p>
          <a:p>
            <a:pPr marL="0" indent="0">
              <a:buNone/>
            </a:pPr>
            <a:r>
              <a:rPr lang="en-US" sz="2000"/>
              <a:t>  Undershoot: 0</a:t>
            </a:r>
          </a:p>
          <a:p>
            <a:pPr marL="0" indent="0">
              <a:buNone/>
            </a:pPr>
            <a:r>
              <a:rPr lang="en-US" sz="2000"/>
              <a:t>   Peak: 0.4997</a:t>
            </a:r>
          </a:p>
          <a:p>
            <a:pPr marL="0" indent="0">
              <a:buNone/>
            </a:pPr>
            <a:r>
              <a:rPr lang="en-US" sz="2000"/>
              <a:t>   PeakTime: 36.6111</a:t>
            </a:r>
          </a:p>
          <a:p>
            <a:pPr marL="0" indent="0">
              <a:buNone/>
            </a:pPr>
            <a:r>
              <a:rPr lang="en-US" sz="2000"/>
              <a:t>   poles =   -0.2000</a:t>
            </a:r>
          </a:p>
        </p:txBody>
      </p:sp>
    </p:spTree>
    <p:extLst>
      <p:ext uri="{BB962C8B-B14F-4D97-AF65-F5344CB8AC3E}">
        <p14:creationId xmlns:p14="http://schemas.microsoft.com/office/powerpoint/2010/main" val="384760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B3C45D-35FE-A315-3213-EE9C84C0522C}"/>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9E90EB45-EEE9-4563-8179-65EF62AE0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209A46A-073E-EED5-AAF5-B83529F29E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0845" y="1826157"/>
            <a:ext cx="5372100" cy="3205686"/>
          </a:xfrm>
          <a:prstGeom prst="rect">
            <a:avLst/>
          </a:prstGeom>
        </p:spPr>
      </p:pic>
      <p:sp>
        <p:nvSpPr>
          <p:cNvPr id="29" name="Rectangle 28">
            <a:extLst>
              <a:ext uri="{FF2B5EF4-FFF2-40B4-BE49-F238E27FC236}">
                <a16:creationId xmlns:a16="http://schemas.microsoft.com/office/drawing/2014/main" id="{23D0EF74-AD1E-4FD9-914D-8EC9058EB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8981C55-2AA6-BC04-BA2A-9B102271C2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879" y="1826157"/>
            <a:ext cx="5372099" cy="3205686"/>
          </a:xfrm>
          <a:prstGeom prst="rect">
            <a:avLst/>
          </a:prstGeom>
        </p:spPr>
      </p:pic>
    </p:spTree>
    <p:extLst>
      <p:ext uri="{BB962C8B-B14F-4D97-AF65-F5344CB8AC3E}">
        <p14:creationId xmlns:p14="http://schemas.microsoft.com/office/powerpoint/2010/main" val="3491169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820367-F44F-6D8D-1B75-10DBD13F724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EDDE32-A8D9-C585-9727-1206E6AD0515}"/>
              </a:ext>
            </a:extLst>
          </p:cNvPr>
          <p:cNvSpPr>
            <a:spLocks noGrp="1"/>
          </p:cNvSpPr>
          <p:nvPr>
            <p:ph type="title"/>
          </p:nvPr>
        </p:nvSpPr>
        <p:spPr>
          <a:xfrm>
            <a:off x="838200" y="1412488"/>
            <a:ext cx="2899189" cy="4363844"/>
          </a:xfrm>
        </p:spPr>
        <p:txBody>
          <a:bodyPr anchor="t">
            <a:normAutofit/>
          </a:bodyPr>
          <a:lstStyle/>
          <a:p>
            <a:r>
              <a:rPr lang="en-US" sz="4000" b="1">
                <a:solidFill>
                  <a:srgbClr val="FFFFFF"/>
                </a:solidFill>
              </a:rPr>
              <a:t>PI Controller:</a:t>
            </a:r>
            <a:endParaRPr lang="en-US" sz="4000">
              <a:solidFill>
                <a:srgbClr val="FFFFFF"/>
              </a:solidFill>
            </a:endParaRPr>
          </a:p>
        </p:txBody>
      </p:sp>
      <p:sp>
        <p:nvSpPr>
          <p:cNvPr id="3" name="Content Placeholder 2">
            <a:extLst>
              <a:ext uri="{FF2B5EF4-FFF2-40B4-BE49-F238E27FC236}">
                <a16:creationId xmlns:a16="http://schemas.microsoft.com/office/drawing/2014/main" id="{3FDA0FB6-CF79-3B6E-9463-3C11E094EF2F}"/>
              </a:ext>
            </a:extLst>
          </p:cNvPr>
          <p:cNvSpPr>
            <a:spLocks noGrp="1"/>
          </p:cNvSpPr>
          <p:nvPr>
            <p:ph sz="half" idx="1"/>
          </p:nvPr>
        </p:nvSpPr>
        <p:spPr>
          <a:xfrm>
            <a:off x="4380855" y="1412489"/>
            <a:ext cx="3427283" cy="4363844"/>
          </a:xfrm>
        </p:spPr>
        <p:txBody>
          <a:bodyPr>
            <a:normAutofit/>
          </a:bodyPr>
          <a:lstStyle/>
          <a:p>
            <a:pPr marL="0" indent="0">
              <a:buNone/>
            </a:pPr>
            <a:r>
              <a:rPr lang="en-US" sz="2000" b="1"/>
              <a:t> Code: </a:t>
            </a:r>
          </a:p>
          <a:p>
            <a:pPr marL="0" indent="0">
              <a:buNone/>
            </a:pPr>
            <a:r>
              <a:rPr lang="en-US" sz="2000"/>
              <a:t>clc;</a:t>
            </a:r>
          </a:p>
          <a:p>
            <a:pPr marL="0" indent="0">
              <a:buNone/>
            </a:pPr>
            <a:r>
              <a:rPr lang="en-US" sz="2000"/>
              <a:t>clear;</a:t>
            </a:r>
          </a:p>
          <a:p>
            <a:pPr marL="0" indent="0">
              <a:buNone/>
            </a:pPr>
            <a:r>
              <a:rPr lang="en-US" sz="2000"/>
              <a:t>close all;</a:t>
            </a:r>
          </a:p>
          <a:p>
            <a:pPr marL="0" indent="0">
              <a:buNone/>
            </a:pPr>
            <a:r>
              <a:rPr lang="en-US" sz="2000"/>
              <a:t>% Open Loop System</a:t>
            </a:r>
          </a:p>
          <a:p>
            <a:pPr marL="0" indent="0">
              <a:buNone/>
            </a:pPr>
            <a:r>
              <a:rPr lang="en-US" sz="2000"/>
              <a:t>G = tf([1],[10 1]);</a:t>
            </a:r>
          </a:p>
          <a:p>
            <a:pPr marL="0" indent="0">
              <a:buNone/>
            </a:pPr>
            <a:r>
              <a:rPr lang="en-US" sz="2000"/>
              <a:t>% PID Controller</a:t>
            </a:r>
          </a:p>
          <a:p>
            <a:pPr marL="0" indent="0">
              <a:buNone/>
            </a:pPr>
            <a:r>
              <a:rPr lang="en-US" sz="2000"/>
              <a:t>Kp = 5;</a:t>
            </a:r>
          </a:p>
          <a:p>
            <a:pPr marL="0" indent="0">
              <a:buNone/>
            </a:pPr>
            <a:r>
              <a:rPr lang="en-US" sz="2000"/>
              <a:t>Ki = 1;</a:t>
            </a:r>
          </a:p>
          <a:p>
            <a:pPr marL="0" indent="0">
              <a:buNone/>
            </a:pPr>
            <a:r>
              <a:rPr lang="en-US" sz="2000"/>
              <a:t>C = pid(Kp,Ki);</a:t>
            </a:r>
          </a:p>
          <a:p>
            <a:pPr marL="0" indent="0">
              <a:buNone/>
            </a:pPr>
            <a:endParaRPr lang="en-US" sz="2000"/>
          </a:p>
          <a:p>
            <a:pPr marL="0" indent="0">
              <a:buNone/>
            </a:pPr>
            <a:endParaRPr lang="en-US" sz="2000"/>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BAD3C61-100A-84A4-D2F3-30CE756F3A87}"/>
              </a:ext>
            </a:extLst>
          </p:cNvPr>
          <p:cNvSpPr>
            <a:spLocks noGrp="1"/>
          </p:cNvSpPr>
          <p:nvPr>
            <p:ph sz="half" idx="2"/>
          </p:nvPr>
        </p:nvSpPr>
        <p:spPr>
          <a:xfrm>
            <a:off x="8451604" y="1412489"/>
            <a:ext cx="3197701" cy="4363844"/>
          </a:xfrm>
        </p:spPr>
        <p:txBody>
          <a:bodyPr>
            <a:normAutofit/>
          </a:bodyPr>
          <a:lstStyle/>
          <a:p>
            <a:pPr marL="0" indent="0">
              <a:buNone/>
            </a:pPr>
            <a:r>
              <a:rPr lang="en-US" sz="2000"/>
              <a:t>% Closed Loop System</a:t>
            </a:r>
          </a:p>
          <a:p>
            <a:pPr marL="0" indent="0">
              <a:buNone/>
            </a:pPr>
            <a:r>
              <a:rPr lang="en-US" sz="2000"/>
              <a:t>T = feedback(C*G,1);</a:t>
            </a:r>
          </a:p>
          <a:p>
            <a:pPr marL="0" indent="0">
              <a:buNone/>
            </a:pPr>
            <a:r>
              <a:rPr lang="en-US" sz="2000"/>
              <a:t>% Step Response</a:t>
            </a:r>
          </a:p>
          <a:p>
            <a:pPr marL="0" indent="0">
              <a:buNone/>
            </a:pPr>
            <a:r>
              <a:rPr lang="en-US" sz="2000"/>
              <a:t>step(T);</a:t>
            </a:r>
          </a:p>
          <a:p>
            <a:pPr marL="0" indent="0">
              <a:buNone/>
            </a:pPr>
            <a:r>
              <a:rPr lang="en-US" sz="2000"/>
              <a:t>grid on;</a:t>
            </a:r>
          </a:p>
          <a:p>
            <a:pPr marL="0" indent="0">
              <a:buNone/>
            </a:pPr>
            <a:r>
              <a:rPr lang="en-US" sz="2000"/>
              <a:t>title('Closed Loop Step Response with PID');</a:t>
            </a:r>
          </a:p>
          <a:p>
            <a:pPr marL="0" indent="0">
              <a:buNone/>
            </a:pPr>
            <a:endParaRPr lang="en-US" sz="2000"/>
          </a:p>
        </p:txBody>
      </p:sp>
    </p:spTree>
    <p:extLst>
      <p:ext uri="{BB962C8B-B14F-4D97-AF65-F5344CB8AC3E}">
        <p14:creationId xmlns:p14="http://schemas.microsoft.com/office/powerpoint/2010/main" val="960834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1B663E-E58C-D107-B41F-4F8A48AEA1D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A644C17-571E-A754-6982-B78F6488885E}"/>
              </a:ext>
            </a:extLst>
          </p:cNvPr>
          <p:cNvSpPr>
            <a:spLocks noGrp="1"/>
          </p:cNvSpPr>
          <p:nvPr>
            <p:ph type="title"/>
          </p:nvPr>
        </p:nvSpPr>
        <p:spPr>
          <a:xfrm>
            <a:off x="838200" y="1412488"/>
            <a:ext cx="2899189" cy="4363844"/>
          </a:xfrm>
        </p:spPr>
        <p:txBody>
          <a:bodyPr anchor="t">
            <a:normAutofit/>
          </a:bodyPr>
          <a:lstStyle/>
          <a:p>
            <a:r>
              <a:rPr lang="en-US" sz="4000" b="1">
                <a:solidFill>
                  <a:srgbClr val="FFFFFF"/>
                </a:solidFill>
              </a:rPr>
              <a:t>PI Controller:</a:t>
            </a:r>
            <a:endParaRPr lang="en-US" sz="4000">
              <a:solidFill>
                <a:srgbClr val="FFFFFF"/>
              </a:solidFill>
            </a:endParaRPr>
          </a:p>
        </p:txBody>
      </p:sp>
      <p:sp>
        <p:nvSpPr>
          <p:cNvPr id="3" name="Content Placeholder 2">
            <a:extLst>
              <a:ext uri="{FF2B5EF4-FFF2-40B4-BE49-F238E27FC236}">
                <a16:creationId xmlns:a16="http://schemas.microsoft.com/office/drawing/2014/main" id="{19931832-E82D-F4B5-1C18-233C68AE785C}"/>
              </a:ext>
            </a:extLst>
          </p:cNvPr>
          <p:cNvSpPr>
            <a:spLocks noGrp="1"/>
          </p:cNvSpPr>
          <p:nvPr>
            <p:ph sz="half" idx="1"/>
          </p:nvPr>
        </p:nvSpPr>
        <p:spPr>
          <a:xfrm>
            <a:off x="4380855" y="1412489"/>
            <a:ext cx="3427283" cy="4363844"/>
          </a:xfrm>
        </p:spPr>
        <p:txBody>
          <a:bodyPr>
            <a:normAutofit/>
          </a:bodyPr>
          <a:lstStyle/>
          <a:p>
            <a:pPr marL="0" indent="0">
              <a:buNone/>
            </a:pPr>
            <a:r>
              <a:rPr lang="en-US" sz="2000" b="1"/>
              <a:t> Code: </a:t>
            </a:r>
          </a:p>
          <a:p>
            <a:pPr marL="0" indent="0">
              <a:buNone/>
            </a:pPr>
            <a:r>
              <a:rPr lang="en-US" sz="2000"/>
              <a:t>% Performance Information</a:t>
            </a:r>
          </a:p>
          <a:p>
            <a:pPr marL="0" indent="0">
              <a:buNone/>
            </a:pPr>
            <a:r>
              <a:rPr lang="en-US" sz="2000"/>
              <a:t>info = stepinfo(T)</a:t>
            </a:r>
          </a:p>
          <a:p>
            <a:pPr marL="0" indent="0">
              <a:buNone/>
            </a:pPr>
            <a:r>
              <a:rPr lang="en-US" sz="2000"/>
              <a:t>% Pole-Zero Map</a:t>
            </a:r>
          </a:p>
          <a:p>
            <a:pPr marL="0" indent="0">
              <a:buNone/>
            </a:pPr>
            <a:r>
              <a:rPr lang="en-US" sz="2000"/>
              <a:t>figure;</a:t>
            </a:r>
          </a:p>
          <a:p>
            <a:pPr marL="0" indent="0">
              <a:buNone/>
            </a:pPr>
            <a:r>
              <a:rPr lang="en-US" sz="2000"/>
              <a:t>pzmap(T);</a:t>
            </a:r>
          </a:p>
          <a:p>
            <a:pPr marL="0" indent="0">
              <a:buNone/>
            </a:pPr>
            <a:r>
              <a:rPr lang="en-US" sz="2000"/>
              <a:t>grid on;</a:t>
            </a:r>
          </a:p>
          <a:p>
            <a:pPr marL="0" indent="0">
              <a:buNone/>
            </a:pPr>
            <a:r>
              <a:rPr lang="en-US" sz="2000"/>
              <a:t>title('Closed Loop Poles and Zeros');</a:t>
            </a:r>
          </a:p>
          <a:p>
            <a:pPr marL="0" indent="0">
              <a:buNone/>
            </a:pPr>
            <a:r>
              <a:rPr lang="en-US" sz="2000"/>
              <a:t>% Display Poles</a:t>
            </a:r>
          </a:p>
          <a:p>
            <a:pPr marL="0" indent="0">
              <a:buNone/>
            </a:pPr>
            <a:r>
              <a:rPr lang="en-US" sz="2000"/>
              <a:t>poles = pole(T)</a:t>
            </a:r>
          </a:p>
          <a:p>
            <a:pPr marL="0" indent="0">
              <a:buNone/>
            </a:pPr>
            <a:endParaRPr lang="en-US" sz="2000"/>
          </a:p>
          <a:p>
            <a:pPr marL="0" indent="0">
              <a:buNone/>
            </a:pPr>
            <a:endParaRPr lang="en-US" sz="2000" b="1"/>
          </a:p>
          <a:p>
            <a:pPr marL="0" indent="0">
              <a:buNone/>
            </a:pPr>
            <a:endParaRPr lang="en-US" sz="2000"/>
          </a:p>
        </p:txBody>
      </p:sp>
      <p:cxnSp>
        <p:nvCxnSpPr>
          <p:cNvPr id="10" name="Straight Connector 9">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3637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108796-66CD-523C-A023-5DCC28AE59D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7461861-46B4-0139-D206-FB731DD0037D}"/>
              </a:ext>
            </a:extLst>
          </p:cNvPr>
          <p:cNvSpPr>
            <a:spLocks noGrp="1"/>
          </p:cNvSpPr>
          <p:nvPr>
            <p:ph type="title"/>
          </p:nvPr>
        </p:nvSpPr>
        <p:spPr>
          <a:xfrm>
            <a:off x="804672" y="1412489"/>
            <a:ext cx="2871095" cy="2156621"/>
          </a:xfrm>
        </p:spPr>
        <p:txBody>
          <a:bodyPr anchor="t">
            <a:normAutofit/>
          </a:bodyPr>
          <a:lstStyle/>
          <a:p>
            <a:r>
              <a:rPr lang="en-US" sz="3600" b="1">
                <a:solidFill>
                  <a:srgbClr val="FFFFFF"/>
                </a:solidFill>
              </a:rPr>
              <a:t>Output:</a:t>
            </a:r>
            <a:endParaRPr lang="en-US" sz="3600">
              <a:solidFill>
                <a:srgbClr val="FFFFFF"/>
              </a:solidFill>
            </a:endParaRPr>
          </a:p>
        </p:txBody>
      </p:sp>
      <p:sp>
        <p:nvSpPr>
          <p:cNvPr id="3" name="Content Placeholder 2">
            <a:extLst>
              <a:ext uri="{FF2B5EF4-FFF2-40B4-BE49-F238E27FC236}">
                <a16:creationId xmlns:a16="http://schemas.microsoft.com/office/drawing/2014/main" id="{72E83AEB-EE24-27BF-0FCB-75A33B318679}"/>
              </a:ext>
            </a:extLst>
          </p:cNvPr>
          <p:cNvSpPr>
            <a:spLocks noGrp="1"/>
          </p:cNvSpPr>
          <p:nvPr>
            <p:ph sz="half" idx="1"/>
          </p:nvPr>
        </p:nvSpPr>
        <p:spPr>
          <a:xfrm>
            <a:off x="5198993" y="1412489"/>
            <a:ext cx="2926080" cy="4363844"/>
          </a:xfrm>
        </p:spPr>
        <p:txBody>
          <a:bodyPr>
            <a:normAutofit/>
          </a:bodyPr>
          <a:lstStyle/>
          <a:p>
            <a:pPr marL="0" indent="0">
              <a:buNone/>
            </a:pPr>
            <a:r>
              <a:rPr lang="en-US" sz="2000"/>
              <a:t>info =  struct with fields:</a:t>
            </a:r>
          </a:p>
          <a:p>
            <a:pPr marL="0" indent="0">
              <a:buNone/>
            </a:pPr>
            <a:r>
              <a:rPr lang="en-US" sz="2000"/>
              <a:t>  RiseTime: 3.1860</a:t>
            </a:r>
          </a:p>
          <a:p>
            <a:pPr marL="0" indent="0">
              <a:buNone/>
            </a:pPr>
            <a:r>
              <a:rPr lang="en-US" sz="2000"/>
              <a:t>  TransientTime: 15.2749</a:t>
            </a:r>
          </a:p>
          <a:p>
            <a:pPr marL="0" indent="0">
              <a:buNone/>
            </a:pPr>
            <a:r>
              <a:rPr lang="en-US" sz="2000"/>
              <a:t>  SettlingTime: 15.2749</a:t>
            </a:r>
          </a:p>
          <a:p>
            <a:pPr marL="0" indent="0">
              <a:buNone/>
            </a:pPr>
            <a:r>
              <a:rPr lang="en-US" sz="2000"/>
              <a:t>  SettlingMin: 0.9144</a:t>
            </a:r>
          </a:p>
          <a:p>
            <a:pPr marL="0" indent="0">
              <a:buNone/>
            </a:pPr>
            <a:r>
              <a:rPr lang="en-US" sz="2000"/>
              <a:t>  SettlingMax: 1.0670</a:t>
            </a:r>
          </a:p>
          <a:p>
            <a:pPr marL="0" indent="0">
              <a:buNone/>
            </a:pPr>
            <a:endParaRPr lang="en-US" sz="2000"/>
          </a:p>
          <a:p>
            <a:pPr marL="0" indent="0">
              <a:buNone/>
            </a:pPr>
            <a:endParaRPr lang="en-US" sz="2000"/>
          </a:p>
        </p:txBody>
      </p:sp>
      <p:sp>
        <p:nvSpPr>
          <p:cNvPr id="4" name="Content Placeholder 3">
            <a:extLst>
              <a:ext uri="{FF2B5EF4-FFF2-40B4-BE49-F238E27FC236}">
                <a16:creationId xmlns:a16="http://schemas.microsoft.com/office/drawing/2014/main" id="{9AB515A7-FC6A-574E-5B45-929E84740688}"/>
              </a:ext>
            </a:extLst>
          </p:cNvPr>
          <p:cNvSpPr>
            <a:spLocks noGrp="1"/>
          </p:cNvSpPr>
          <p:nvPr>
            <p:ph sz="half" idx="2"/>
          </p:nvPr>
        </p:nvSpPr>
        <p:spPr>
          <a:xfrm>
            <a:off x="8451604" y="1412489"/>
            <a:ext cx="2926080" cy="4363844"/>
          </a:xfrm>
        </p:spPr>
        <p:txBody>
          <a:bodyPr>
            <a:normAutofit/>
          </a:bodyPr>
          <a:lstStyle/>
          <a:p>
            <a:pPr marL="0" indent="0">
              <a:buNone/>
            </a:pPr>
            <a:r>
              <a:rPr lang="en-US" sz="2000"/>
              <a:t>   Overshoot: 6.7018</a:t>
            </a:r>
          </a:p>
          <a:p>
            <a:pPr marL="0" indent="0">
              <a:buNone/>
            </a:pPr>
            <a:r>
              <a:rPr lang="en-US" sz="2000"/>
              <a:t>    Undershoot: 0</a:t>
            </a:r>
          </a:p>
          <a:p>
            <a:pPr marL="0" indent="0">
              <a:buNone/>
            </a:pPr>
            <a:r>
              <a:rPr lang="en-US" sz="2000"/>
              <a:t>     Peak: 1.0670</a:t>
            </a:r>
          </a:p>
          <a:p>
            <a:pPr marL="0" indent="0">
              <a:buNone/>
            </a:pPr>
            <a:r>
              <a:rPr lang="en-US" sz="2000"/>
              <a:t>     PeakTime: 7.8288</a:t>
            </a:r>
          </a:p>
          <a:p>
            <a:pPr marL="0" indent="0">
              <a:buNone/>
            </a:pPr>
            <a:r>
              <a:rPr lang="en-US" sz="2000"/>
              <a:t>      poles =  -0.3000 + 0.1000i</a:t>
            </a:r>
          </a:p>
          <a:p>
            <a:pPr marL="0" indent="0">
              <a:buNone/>
            </a:pPr>
            <a:r>
              <a:rPr lang="en-US" sz="2000"/>
              <a:t>      -0.3000 - 0.1000i</a:t>
            </a:r>
          </a:p>
        </p:txBody>
      </p:sp>
    </p:spTree>
    <p:extLst>
      <p:ext uri="{BB962C8B-B14F-4D97-AF65-F5344CB8AC3E}">
        <p14:creationId xmlns:p14="http://schemas.microsoft.com/office/powerpoint/2010/main" val="2670018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E90EB45-EEE9-4563-8179-65EF62AE0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56CB713-A8EF-77A7-80DC-4CED56606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6433" y="1649992"/>
            <a:ext cx="5372100" cy="3558016"/>
          </a:xfrm>
          <a:prstGeom prst="rect">
            <a:avLst/>
          </a:prstGeom>
        </p:spPr>
      </p:pic>
      <p:sp>
        <p:nvSpPr>
          <p:cNvPr id="15" name="Rectangle 14">
            <a:extLst>
              <a:ext uri="{FF2B5EF4-FFF2-40B4-BE49-F238E27FC236}">
                <a16:creationId xmlns:a16="http://schemas.microsoft.com/office/drawing/2014/main" id="{23D0EF74-AD1E-4FD9-914D-8EC9058EB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1336BA7-860A-6097-C04C-286EC22DF8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673" y="1649992"/>
            <a:ext cx="5372099" cy="3558016"/>
          </a:xfrm>
          <a:prstGeom prst="rect">
            <a:avLst/>
          </a:prstGeom>
        </p:spPr>
      </p:pic>
    </p:spTree>
    <p:extLst>
      <p:ext uri="{BB962C8B-B14F-4D97-AF65-F5344CB8AC3E}">
        <p14:creationId xmlns:p14="http://schemas.microsoft.com/office/powerpoint/2010/main" val="3916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41235C2-ACB5-62C8-F329-13394B33AD9D}"/>
              </a:ext>
            </a:extLst>
          </p:cNvPr>
          <p:cNvSpPr>
            <a:spLocks noGrp="1"/>
          </p:cNvSpPr>
          <p:nvPr>
            <p:ph type="title"/>
          </p:nvPr>
        </p:nvSpPr>
        <p:spPr>
          <a:xfrm>
            <a:off x="838200" y="1412488"/>
            <a:ext cx="2899189" cy="4363844"/>
          </a:xfrm>
        </p:spPr>
        <p:txBody>
          <a:bodyPr anchor="t">
            <a:normAutofit/>
          </a:bodyPr>
          <a:lstStyle/>
          <a:p>
            <a:r>
              <a:rPr lang="en-US" sz="4000" b="1">
                <a:solidFill>
                  <a:srgbClr val="FFFFFF"/>
                </a:solidFill>
              </a:rPr>
              <a:t>PD Controller:</a:t>
            </a:r>
            <a:endParaRPr lang="en-US" sz="4000">
              <a:solidFill>
                <a:srgbClr val="FFFFFF"/>
              </a:solidFill>
            </a:endParaRPr>
          </a:p>
        </p:txBody>
      </p:sp>
      <p:sp>
        <p:nvSpPr>
          <p:cNvPr id="3" name="Content Placeholder 2">
            <a:extLst>
              <a:ext uri="{FF2B5EF4-FFF2-40B4-BE49-F238E27FC236}">
                <a16:creationId xmlns:a16="http://schemas.microsoft.com/office/drawing/2014/main" id="{6C571D4A-6125-737C-EEA3-8C06FFB7B29C}"/>
              </a:ext>
            </a:extLst>
          </p:cNvPr>
          <p:cNvSpPr>
            <a:spLocks noGrp="1"/>
          </p:cNvSpPr>
          <p:nvPr>
            <p:ph sz="half" idx="1"/>
          </p:nvPr>
        </p:nvSpPr>
        <p:spPr>
          <a:xfrm>
            <a:off x="4380855" y="1412489"/>
            <a:ext cx="3427283" cy="4363844"/>
          </a:xfrm>
        </p:spPr>
        <p:txBody>
          <a:bodyPr>
            <a:normAutofit/>
          </a:bodyPr>
          <a:lstStyle/>
          <a:p>
            <a:pPr marL="0" indent="0">
              <a:buNone/>
            </a:pPr>
            <a:r>
              <a:rPr lang="en-US" sz="2000" b="1"/>
              <a:t>Code:</a:t>
            </a:r>
          </a:p>
          <a:p>
            <a:pPr marL="0" indent="0">
              <a:buNone/>
            </a:pPr>
            <a:r>
              <a:rPr lang="en-US" sz="2000"/>
              <a:t>clc;</a:t>
            </a:r>
          </a:p>
          <a:p>
            <a:pPr marL="0" indent="0">
              <a:buNone/>
            </a:pPr>
            <a:r>
              <a:rPr lang="en-US" sz="2000"/>
              <a:t>clear;</a:t>
            </a:r>
          </a:p>
          <a:p>
            <a:pPr marL="0" indent="0">
              <a:buNone/>
            </a:pPr>
            <a:r>
              <a:rPr lang="en-US" sz="2000"/>
              <a:t>close all;</a:t>
            </a:r>
          </a:p>
          <a:p>
            <a:pPr marL="0" indent="0">
              <a:buNone/>
            </a:pPr>
            <a:r>
              <a:rPr lang="en-US" sz="2000"/>
              <a:t>% Open Loop System</a:t>
            </a:r>
          </a:p>
          <a:p>
            <a:pPr marL="0" indent="0">
              <a:buNone/>
            </a:pPr>
            <a:r>
              <a:rPr lang="en-US" sz="2000"/>
              <a:t>G = tf([1],[10 1]);</a:t>
            </a:r>
          </a:p>
          <a:p>
            <a:pPr marL="0" indent="0">
              <a:buNone/>
            </a:pPr>
            <a:r>
              <a:rPr lang="en-US" sz="2000"/>
              <a:t>% PID Controller</a:t>
            </a:r>
          </a:p>
          <a:p>
            <a:pPr marL="0" indent="0">
              <a:buNone/>
            </a:pPr>
            <a:r>
              <a:rPr lang="en-US" sz="2000"/>
              <a:t>Kp = 5;</a:t>
            </a:r>
          </a:p>
          <a:p>
            <a:pPr marL="0" indent="0">
              <a:buNone/>
            </a:pPr>
            <a:r>
              <a:rPr lang="en-US" sz="2000"/>
              <a:t>Kd = 0.5;</a:t>
            </a:r>
          </a:p>
          <a:p>
            <a:pPr marL="0" indent="0">
              <a:buNone/>
            </a:pPr>
            <a:r>
              <a:rPr lang="en-US" sz="2000"/>
              <a:t>C = pid(Kp,Kd);</a:t>
            </a:r>
          </a:p>
          <a:p>
            <a:pPr marL="0" indent="0">
              <a:buNone/>
            </a:pPr>
            <a:endParaRPr lang="en-US" sz="2000"/>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13EF5641-8360-CFF3-B1CD-9A03530B4E27}"/>
              </a:ext>
            </a:extLst>
          </p:cNvPr>
          <p:cNvSpPr>
            <a:spLocks noGrp="1"/>
          </p:cNvSpPr>
          <p:nvPr>
            <p:ph sz="half" idx="2"/>
          </p:nvPr>
        </p:nvSpPr>
        <p:spPr>
          <a:xfrm>
            <a:off x="8451604" y="1412489"/>
            <a:ext cx="3197701" cy="4363844"/>
          </a:xfrm>
        </p:spPr>
        <p:txBody>
          <a:bodyPr>
            <a:normAutofit/>
          </a:bodyPr>
          <a:lstStyle/>
          <a:p>
            <a:r>
              <a:rPr lang="en-US" sz="1900"/>
              <a:t>% Closed Loop System</a:t>
            </a:r>
          </a:p>
          <a:p>
            <a:r>
              <a:rPr lang="en-US" sz="1900"/>
              <a:t>T = feedback(C*G,1);</a:t>
            </a:r>
          </a:p>
          <a:p>
            <a:r>
              <a:rPr lang="en-US" sz="1900"/>
              <a:t>% Step Response</a:t>
            </a:r>
          </a:p>
          <a:p>
            <a:r>
              <a:rPr lang="en-US" sz="1900"/>
              <a:t>figure;</a:t>
            </a:r>
          </a:p>
          <a:p>
            <a:r>
              <a:rPr lang="en-US" sz="1900"/>
              <a:t>step(T);</a:t>
            </a:r>
          </a:p>
          <a:p>
            <a:r>
              <a:rPr lang="en-US" sz="1900"/>
              <a:t>grid on;</a:t>
            </a:r>
          </a:p>
          <a:p>
            <a:r>
              <a:rPr lang="en-US" sz="1900"/>
              <a:t>title('Closed Loop Step Response with PID');</a:t>
            </a:r>
          </a:p>
          <a:p>
            <a:r>
              <a:rPr lang="en-US" sz="1900"/>
              <a:t>% Performance Information</a:t>
            </a:r>
          </a:p>
          <a:p>
            <a:r>
              <a:rPr lang="en-US" sz="1900"/>
              <a:t>info = stepinfo(T)</a:t>
            </a:r>
          </a:p>
          <a:p>
            <a:r>
              <a:rPr lang="en-US" sz="1900"/>
              <a:t>% Pole-Zero Map</a:t>
            </a:r>
          </a:p>
        </p:txBody>
      </p:sp>
    </p:spTree>
    <p:extLst>
      <p:ext uri="{BB962C8B-B14F-4D97-AF65-F5344CB8AC3E}">
        <p14:creationId xmlns:p14="http://schemas.microsoft.com/office/powerpoint/2010/main" val="3700157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A31B05-F8BE-BF00-767C-5C29BD82647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AFAE60B-19C6-06F4-2463-BEB968C7C840}"/>
              </a:ext>
            </a:extLst>
          </p:cNvPr>
          <p:cNvSpPr>
            <a:spLocks noGrp="1"/>
          </p:cNvSpPr>
          <p:nvPr>
            <p:ph type="title"/>
          </p:nvPr>
        </p:nvSpPr>
        <p:spPr>
          <a:xfrm>
            <a:off x="838200" y="1412488"/>
            <a:ext cx="2899189" cy="4363844"/>
          </a:xfrm>
        </p:spPr>
        <p:txBody>
          <a:bodyPr anchor="t">
            <a:normAutofit/>
          </a:bodyPr>
          <a:lstStyle/>
          <a:p>
            <a:r>
              <a:rPr lang="en-US" sz="4000" b="1">
                <a:solidFill>
                  <a:srgbClr val="FFFFFF"/>
                </a:solidFill>
              </a:rPr>
              <a:t>PD Controller:</a:t>
            </a:r>
            <a:endParaRPr lang="en-US" sz="4000">
              <a:solidFill>
                <a:srgbClr val="FFFFFF"/>
              </a:solidFill>
            </a:endParaRPr>
          </a:p>
        </p:txBody>
      </p:sp>
      <p:sp>
        <p:nvSpPr>
          <p:cNvPr id="3" name="Content Placeholder 2">
            <a:extLst>
              <a:ext uri="{FF2B5EF4-FFF2-40B4-BE49-F238E27FC236}">
                <a16:creationId xmlns:a16="http://schemas.microsoft.com/office/drawing/2014/main" id="{7DBCEDC8-0255-755C-8DF5-819B7A358346}"/>
              </a:ext>
            </a:extLst>
          </p:cNvPr>
          <p:cNvSpPr>
            <a:spLocks noGrp="1"/>
          </p:cNvSpPr>
          <p:nvPr>
            <p:ph sz="half" idx="1"/>
          </p:nvPr>
        </p:nvSpPr>
        <p:spPr>
          <a:xfrm>
            <a:off x="4380855" y="1412489"/>
            <a:ext cx="3427283" cy="4363844"/>
          </a:xfrm>
        </p:spPr>
        <p:txBody>
          <a:bodyPr>
            <a:normAutofit/>
          </a:bodyPr>
          <a:lstStyle/>
          <a:p>
            <a:pPr marL="0" indent="0">
              <a:buNone/>
            </a:pPr>
            <a:r>
              <a:rPr lang="en-US" sz="2000"/>
              <a:t>figure;</a:t>
            </a:r>
          </a:p>
          <a:p>
            <a:pPr marL="0" indent="0">
              <a:buNone/>
            </a:pPr>
            <a:r>
              <a:rPr lang="en-US" sz="2000"/>
              <a:t>pzmap(T);</a:t>
            </a:r>
          </a:p>
          <a:p>
            <a:pPr marL="0" indent="0">
              <a:buNone/>
            </a:pPr>
            <a:r>
              <a:rPr lang="en-US" sz="2000"/>
              <a:t>grid on;</a:t>
            </a:r>
          </a:p>
          <a:p>
            <a:pPr marL="0" indent="0">
              <a:buNone/>
            </a:pPr>
            <a:r>
              <a:rPr lang="en-US" sz="2000"/>
              <a:t>title('Closed Loop Poles and Zeros');</a:t>
            </a:r>
          </a:p>
          <a:p>
            <a:pPr marL="0" indent="0">
              <a:buNone/>
            </a:pPr>
            <a:r>
              <a:rPr lang="en-US" sz="2000"/>
              <a:t>% Display Poles</a:t>
            </a:r>
          </a:p>
          <a:p>
            <a:pPr marL="0" indent="0">
              <a:buNone/>
            </a:pPr>
            <a:r>
              <a:rPr lang="en-US" sz="2000"/>
              <a:t>poles = pole(T)</a:t>
            </a:r>
          </a:p>
        </p:txBody>
      </p:sp>
      <p:cxnSp>
        <p:nvCxnSpPr>
          <p:cNvPr id="10" name="Straight Connector 9">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9963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8C8213-98DB-3C72-C68C-2540C3834E58}"/>
              </a:ext>
            </a:extLst>
          </p:cNvPr>
          <p:cNvSpPr>
            <a:spLocks noGrp="1"/>
          </p:cNvSpPr>
          <p:nvPr>
            <p:ph type="title"/>
          </p:nvPr>
        </p:nvSpPr>
        <p:spPr>
          <a:xfrm>
            <a:off x="804672" y="1412489"/>
            <a:ext cx="2871095" cy="2156621"/>
          </a:xfrm>
        </p:spPr>
        <p:txBody>
          <a:bodyPr anchor="t">
            <a:normAutofit/>
          </a:bodyPr>
          <a:lstStyle/>
          <a:p>
            <a:r>
              <a:rPr lang="en-US" sz="3600" b="1">
                <a:solidFill>
                  <a:srgbClr val="FFFFFF"/>
                </a:solidFill>
              </a:rPr>
              <a:t>Output:</a:t>
            </a:r>
            <a:endParaRPr lang="en-US" sz="3600">
              <a:solidFill>
                <a:srgbClr val="FFFFFF"/>
              </a:solidFill>
            </a:endParaRPr>
          </a:p>
        </p:txBody>
      </p:sp>
      <p:sp>
        <p:nvSpPr>
          <p:cNvPr id="3" name="Content Placeholder 2">
            <a:extLst>
              <a:ext uri="{FF2B5EF4-FFF2-40B4-BE49-F238E27FC236}">
                <a16:creationId xmlns:a16="http://schemas.microsoft.com/office/drawing/2014/main" id="{31632956-13EB-6EBB-E06D-C541F678794D}"/>
              </a:ext>
            </a:extLst>
          </p:cNvPr>
          <p:cNvSpPr>
            <a:spLocks noGrp="1"/>
          </p:cNvSpPr>
          <p:nvPr>
            <p:ph sz="half" idx="1"/>
          </p:nvPr>
        </p:nvSpPr>
        <p:spPr>
          <a:xfrm>
            <a:off x="5198993" y="1412489"/>
            <a:ext cx="2926080" cy="4363844"/>
          </a:xfrm>
        </p:spPr>
        <p:txBody>
          <a:bodyPr>
            <a:normAutofit/>
          </a:bodyPr>
          <a:lstStyle/>
          <a:p>
            <a:pPr marL="0" indent="0">
              <a:buNone/>
            </a:pPr>
            <a:r>
              <a:rPr lang="en-US" sz="2000"/>
              <a:t>      info =   struct with fields:</a:t>
            </a:r>
          </a:p>
          <a:p>
            <a:pPr marL="0" indent="0">
              <a:buNone/>
            </a:pPr>
            <a:r>
              <a:rPr lang="en-US" sz="2000"/>
              <a:t>      RiseTime: 4.3940</a:t>
            </a:r>
          </a:p>
          <a:p>
            <a:pPr marL="0" indent="0">
              <a:buNone/>
            </a:pPr>
            <a:r>
              <a:rPr lang="en-US" sz="2000"/>
              <a:t>      TransientTime: 7.8241</a:t>
            </a:r>
          </a:p>
          <a:p>
            <a:pPr marL="0" indent="0">
              <a:buNone/>
            </a:pPr>
            <a:r>
              <a:rPr lang="en-US" sz="2000"/>
              <a:t>      SettlingTime: 7.8241</a:t>
            </a:r>
          </a:p>
          <a:p>
            <a:pPr marL="0" indent="0">
              <a:buNone/>
            </a:pPr>
            <a:r>
              <a:rPr lang="en-US" sz="2000"/>
              <a:t>      SettlingMin: 0.9045</a:t>
            </a:r>
          </a:p>
          <a:p>
            <a:pPr marL="0" indent="0">
              <a:buNone/>
            </a:pPr>
            <a:r>
              <a:rPr lang="en-US" sz="2000"/>
              <a:t>      SettlingMax: 0.9993</a:t>
            </a:r>
          </a:p>
          <a:p>
            <a:pPr marL="0" indent="0">
              <a:buNone/>
            </a:pPr>
            <a:endParaRPr lang="en-US" sz="2000"/>
          </a:p>
        </p:txBody>
      </p:sp>
      <p:sp>
        <p:nvSpPr>
          <p:cNvPr id="4" name="Content Placeholder 3">
            <a:extLst>
              <a:ext uri="{FF2B5EF4-FFF2-40B4-BE49-F238E27FC236}">
                <a16:creationId xmlns:a16="http://schemas.microsoft.com/office/drawing/2014/main" id="{4F370616-E69D-97B2-9A5F-832E44D4893B}"/>
              </a:ext>
            </a:extLst>
          </p:cNvPr>
          <p:cNvSpPr>
            <a:spLocks noGrp="1"/>
          </p:cNvSpPr>
          <p:nvPr>
            <p:ph sz="half" idx="2"/>
          </p:nvPr>
        </p:nvSpPr>
        <p:spPr>
          <a:xfrm>
            <a:off x="8451604" y="1412489"/>
            <a:ext cx="2926080" cy="4363844"/>
          </a:xfrm>
        </p:spPr>
        <p:txBody>
          <a:bodyPr>
            <a:normAutofit/>
          </a:bodyPr>
          <a:lstStyle/>
          <a:p>
            <a:pPr marL="0" indent="0">
              <a:buNone/>
            </a:pPr>
            <a:r>
              <a:rPr lang="en-US" sz="2000"/>
              <a:t>  Overshoot: 0</a:t>
            </a:r>
          </a:p>
          <a:p>
            <a:pPr marL="0" indent="0">
              <a:buNone/>
            </a:pPr>
            <a:r>
              <a:rPr lang="en-US" sz="2000"/>
              <a:t>   Undershoot: Z</a:t>
            </a:r>
          </a:p>
          <a:p>
            <a:pPr marL="0" indent="0">
              <a:buNone/>
            </a:pPr>
            <a:r>
              <a:rPr lang="en-US" sz="2000"/>
              <a:t>    Peak: 0.9993</a:t>
            </a:r>
          </a:p>
          <a:p>
            <a:pPr marL="0" indent="0">
              <a:buNone/>
            </a:pPr>
            <a:r>
              <a:rPr lang="en-US" sz="2000"/>
              <a:t>    PeakTime: 14.6444</a:t>
            </a:r>
          </a:p>
          <a:p>
            <a:pPr marL="0" indent="0">
              <a:buNone/>
            </a:pPr>
            <a:r>
              <a:rPr lang="en-US" sz="2000"/>
              <a:t>     poles =   -0.5000</a:t>
            </a:r>
          </a:p>
          <a:p>
            <a:pPr marL="0" indent="0">
              <a:buNone/>
            </a:pPr>
            <a:r>
              <a:rPr lang="en-US" sz="2000"/>
              <a:t>     -0.1000</a:t>
            </a:r>
          </a:p>
          <a:p>
            <a:pPr marL="0" indent="0">
              <a:buNone/>
            </a:pPr>
            <a:endParaRPr lang="en-US" sz="2000"/>
          </a:p>
        </p:txBody>
      </p:sp>
    </p:spTree>
    <p:extLst>
      <p:ext uri="{BB962C8B-B14F-4D97-AF65-F5344CB8AC3E}">
        <p14:creationId xmlns:p14="http://schemas.microsoft.com/office/powerpoint/2010/main" val="2477540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E90EB45-EEE9-4563-8179-65EF62AE0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3238853-7A3D-B905-92C8-67AE7DB051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0845" y="1632847"/>
            <a:ext cx="5372100" cy="3592306"/>
          </a:xfrm>
          <a:prstGeom prst="rect">
            <a:avLst/>
          </a:prstGeom>
        </p:spPr>
      </p:pic>
      <p:sp>
        <p:nvSpPr>
          <p:cNvPr id="15" name="Rectangle 14">
            <a:extLst>
              <a:ext uri="{FF2B5EF4-FFF2-40B4-BE49-F238E27FC236}">
                <a16:creationId xmlns:a16="http://schemas.microsoft.com/office/drawing/2014/main" id="{23D0EF74-AD1E-4FD9-914D-8EC9058EB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F1877DF-B106-6FF5-A665-4437AA19D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879" y="1632847"/>
            <a:ext cx="5372099" cy="3592306"/>
          </a:xfrm>
          <a:prstGeom prst="rect">
            <a:avLst/>
          </a:prstGeom>
        </p:spPr>
      </p:pic>
    </p:spTree>
    <p:extLst>
      <p:ext uri="{BB962C8B-B14F-4D97-AF65-F5344CB8AC3E}">
        <p14:creationId xmlns:p14="http://schemas.microsoft.com/office/powerpoint/2010/main" val="1346762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844997-E025-C954-17A4-87A3FFB38C2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3FF4F13-B5FF-8486-18A0-DE8CA23799B2}"/>
              </a:ext>
            </a:extLst>
          </p:cNvPr>
          <p:cNvSpPr>
            <a:spLocks noGrp="1"/>
          </p:cNvSpPr>
          <p:nvPr>
            <p:ph type="title"/>
          </p:nvPr>
        </p:nvSpPr>
        <p:spPr>
          <a:xfrm>
            <a:off x="838200" y="1412488"/>
            <a:ext cx="2899189" cy="4363844"/>
          </a:xfrm>
        </p:spPr>
        <p:txBody>
          <a:bodyPr anchor="t">
            <a:normAutofit/>
          </a:bodyPr>
          <a:lstStyle/>
          <a:p>
            <a:r>
              <a:rPr lang="en-US" sz="4000" b="1">
                <a:solidFill>
                  <a:srgbClr val="FFFFFF"/>
                </a:solidFill>
              </a:rPr>
              <a:t>PID Controller:</a:t>
            </a:r>
            <a:endParaRPr lang="en-US" sz="4000">
              <a:solidFill>
                <a:srgbClr val="FFFFFF"/>
              </a:solidFill>
            </a:endParaRPr>
          </a:p>
        </p:txBody>
      </p:sp>
      <p:sp>
        <p:nvSpPr>
          <p:cNvPr id="3" name="Content Placeholder 2">
            <a:extLst>
              <a:ext uri="{FF2B5EF4-FFF2-40B4-BE49-F238E27FC236}">
                <a16:creationId xmlns:a16="http://schemas.microsoft.com/office/drawing/2014/main" id="{270F54C9-679B-4D95-57E8-41A34A076351}"/>
              </a:ext>
            </a:extLst>
          </p:cNvPr>
          <p:cNvSpPr>
            <a:spLocks noGrp="1"/>
          </p:cNvSpPr>
          <p:nvPr>
            <p:ph sz="half" idx="1"/>
          </p:nvPr>
        </p:nvSpPr>
        <p:spPr>
          <a:xfrm>
            <a:off x="4380855" y="1412489"/>
            <a:ext cx="3427283" cy="4363844"/>
          </a:xfrm>
        </p:spPr>
        <p:txBody>
          <a:bodyPr>
            <a:normAutofit/>
          </a:bodyPr>
          <a:lstStyle/>
          <a:p>
            <a:pPr marL="0" indent="0">
              <a:buNone/>
            </a:pPr>
            <a:r>
              <a:rPr lang="en-US" sz="2000" b="1"/>
              <a:t>Code;</a:t>
            </a:r>
            <a:br>
              <a:rPr lang="en-US" sz="2000" b="1"/>
            </a:br>
            <a:r>
              <a:rPr lang="en-US" sz="2000"/>
              <a:t>clc;</a:t>
            </a:r>
          </a:p>
          <a:p>
            <a:pPr marL="0" indent="0">
              <a:buNone/>
            </a:pPr>
            <a:r>
              <a:rPr lang="en-US" sz="2000"/>
              <a:t>clear;</a:t>
            </a:r>
          </a:p>
          <a:p>
            <a:pPr marL="0" indent="0">
              <a:buNone/>
            </a:pPr>
            <a:r>
              <a:rPr lang="en-US" sz="2000"/>
              <a:t>close all;</a:t>
            </a:r>
          </a:p>
          <a:p>
            <a:pPr marL="0" indent="0">
              <a:buNone/>
            </a:pPr>
            <a:r>
              <a:rPr lang="en-US" sz="2000"/>
              <a:t>% Open Loop System</a:t>
            </a:r>
          </a:p>
          <a:p>
            <a:pPr marL="0" indent="0">
              <a:buNone/>
            </a:pPr>
            <a:r>
              <a:rPr lang="en-US" sz="2000"/>
              <a:t>G = tf([1],[10 1]);</a:t>
            </a:r>
          </a:p>
          <a:p>
            <a:pPr marL="0" indent="0">
              <a:buNone/>
            </a:pPr>
            <a:r>
              <a:rPr lang="en-US" sz="2000"/>
              <a:t>% PID Controller</a:t>
            </a:r>
          </a:p>
          <a:p>
            <a:pPr marL="0" indent="0">
              <a:buNone/>
            </a:pPr>
            <a:r>
              <a:rPr lang="en-US" sz="2000"/>
              <a:t>Kp = 5;</a:t>
            </a:r>
          </a:p>
          <a:p>
            <a:pPr marL="0" indent="0">
              <a:buNone/>
            </a:pPr>
            <a:r>
              <a:rPr lang="en-US" sz="2000"/>
              <a:t>Ki = 1;</a:t>
            </a:r>
          </a:p>
          <a:p>
            <a:pPr marL="0" indent="0">
              <a:buNone/>
            </a:pPr>
            <a:r>
              <a:rPr lang="en-US" sz="2000"/>
              <a:t>Kd = 0.5;</a:t>
            </a:r>
          </a:p>
          <a:p>
            <a:pPr marL="0" indent="0">
              <a:buNone/>
            </a:pPr>
            <a:r>
              <a:rPr lang="en-US" sz="2000"/>
              <a:t>C = pid(Kp,Ki,Kd);</a:t>
            </a:r>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1D91B63F-3DCC-DE4A-9EB1-7C9AA4D8A8B9}"/>
              </a:ext>
            </a:extLst>
          </p:cNvPr>
          <p:cNvSpPr>
            <a:spLocks noGrp="1"/>
          </p:cNvSpPr>
          <p:nvPr>
            <p:ph sz="half" idx="2"/>
          </p:nvPr>
        </p:nvSpPr>
        <p:spPr>
          <a:xfrm>
            <a:off x="8451604" y="1412489"/>
            <a:ext cx="3197701" cy="4363844"/>
          </a:xfrm>
        </p:spPr>
        <p:txBody>
          <a:bodyPr>
            <a:normAutofit/>
          </a:bodyPr>
          <a:lstStyle/>
          <a:p>
            <a:pPr marL="0" indent="0">
              <a:buNone/>
            </a:pPr>
            <a:r>
              <a:rPr lang="en-US" sz="2000"/>
              <a:t>% Closed Loop System</a:t>
            </a:r>
          </a:p>
          <a:p>
            <a:pPr marL="0" indent="0">
              <a:buNone/>
            </a:pPr>
            <a:r>
              <a:rPr lang="en-US" sz="2000"/>
              <a:t>T = feedback(C*G,1);</a:t>
            </a:r>
          </a:p>
          <a:p>
            <a:pPr marL="0" indent="0">
              <a:buNone/>
            </a:pPr>
            <a:r>
              <a:rPr lang="en-US" sz="2000"/>
              <a:t>% Step Response</a:t>
            </a:r>
          </a:p>
          <a:p>
            <a:pPr marL="0" indent="0">
              <a:buNone/>
            </a:pPr>
            <a:r>
              <a:rPr lang="en-US" sz="2000"/>
              <a:t>figure;</a:t>
            </a:r>
          </a:p>
          <a:p>
            <a:pPr marL="0" indent="0">
              <a:buNone/>
            </a:pPr>
            <a:r>
              <a:rPr lang="en-US" sz="2000"/>
              <a:t>step(T);</a:t>
            </a:r>
          </a:p>
          <a:p>
            <a:pPr marL="0" indent="0">
              <a:buNone/>
            </a:pPr>
            <a:r>
              <a:rPr lang="en-US" sz="2000"/>
              <a:t>grid on;</a:t>
            </a:r>
          </a:p>
          <a:p>
            <a:pPr marL="0" indent="0">
              <a:buNone/>
            </a:pPr>
            <a:r>
              <a:rPr lang="en-US" sz="2000"/>
              <a:t>title('Closed Loop Step Response with PID');</a:t>
            </a:r>
          </a:p>
          <a:p>
            <a:pPr marL="0" indent="0">
              <a:buNone/>
            </a:pPr>
            <a:r>
              <a:rPr lang="en-US" sz="2000"/>
              <a:t>% Performance Information</a:t>
            </a:r>
          </a:p>
          <a:p>
            <a:pPr marL="0" indent="0">
              <a:buNone/>
            </a:pPr>
            <a:r>
              <a:rPr lang="en-US" sz="2000"/>
              <a:t>info = stepinfo(T)</a:t>
            </a:r>
          </a:p>
          <a:p>
            <a:pPr marL="0" indent="0">
              <a:buNone/>
            </a:pPr>
            <a:r>
              <a:rPr lang="en-US" sz="2000"/>
              <a:t>% Pole-Zero Map</a:t>
            </a:r>
          </a:p>
          <a:p>
            <a:pPr marL="0" indent="0">
              <a:buNone/>
            </a:pPr>
            <a:endParaRPr lang="en-US" sz="2000"/>
          </a:p>
        </p:txBody>
      </p:sp>
    </p:spTree>
    <p:extLst>
      <p:ext uri="{BB962C8B-B14F-4D97-AF65-F5344CB8AC3E}">
        <p14:creationId xmlns:p14="http://schemas.microsoft.com/office/powerpoint/2010/main" val="3842454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95154A-80CF-7B0B-DA48-B3FB1D1C8639}"/>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56791A-BF49-E904-42C8-405F9EFD6347}"/>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b="1" kern="1200">
                <a:solidFill>
                  <a:srgbClr val="FFFFFF"/>
                </a:solidFill>
                <a:latin typeface="+mj-lt"/>
                <a:ea typeface="+mj-ea"/>
                <a:cs typeface="+mj-cs"/>
              </a:rPr>
              <a:t>PID Controller:</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618E944F-C7E3-EC9B-D131-CC104E057173}"/>
              </a:ext>
            </a:extLst>
          </p:cNvPr>
          <p:cNvSpPr>
            <a:spLocks noGrp="1"/>
          </p:cNvSpPr>
          <p:nvPr>
            <p:ph sz="half" idx="1"/>
          </p:nvPr>
        </p:nvSpPr>
        <p:spPr>
          <a:xfrm>
            <a:off x="4380855" y="1412489"/>
            <a:ext cx="3427283" cy="4363844"/>
          </a:xfrm>
        </p:spPr>
        <p:txBody>
          <a:bodyPr vert="horz" lIns="91440" tIns="45720" rIns="91440" bIns="45720" rtlCol="0">
            <a:normAutofit/>
          </a:bodyPr>
          <a:lstStyle/>
          <a:p>
            <a:pPr marL="0"/>
            <a:r>
              <a:rPr lang="en-US" sz="2000"/>
              <a:t>figure;</a:t>
            </a:r>
          </a:p>
          <a:p>
            <a:pPr marL="0"/>
            <a:r>
              <a:rPr lang="en-US" sz="2000"/>
              <a:t>pzmap(T);</a:t>
            </a:r>
          </a:p>
          <a:p>
            <a:pPr marL="0"/>
            <a:r>
              <a:rPr lang="en-US" sz="2000"/>
              <a:t>grid on;</a:t>
            </a:r>
          </a:p>
          <a:p>
            <a:pPr marL="0"/>
            <a:r>
              <a:rPr lang="en-US" sz="2000"/>
              <a:t>title('Closed Loop Poles and Zeros');</a:t>
            </a:r>
          </a:p>
          <a:p>
            <a:pPr marL="0"/>
            <a:r>
              <a:rPr lang="en-US" sz="2000"/>
              <a:t>% Display Poles</a:t>
            </a:r>
          </a:p>
          <a:p>
            <a:pPr marL="0"/>
            <a:r>
              <a:rPr lang="en-US" sz="2000"/>
              <a:t>poles = pole(T)</a:t>
            </a:r>
          </a:p>
        </p:txBody>
      </p:sp>
      <p:cxnSp>
        <p:nvCxnSpPr>
          <p:cNvPr id="34" name="Straight Connector 33">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365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EB78C80-5188-C7A1-0C8A-682E14D958BE}"/>
              </a:ext>
            </a:extLst>
          </p:cNvPr>
          <p:cNvSpPr>
            <a:spLocks noGrp="1"/>
          </p:cNvSpPr>
          <p:nvPr>
            <p:ph type="title"/>
          </p:nvPr>
        </p:nvSpPr>
        <p:spPr>
          <a:xfrm>
            <a:off x="804672" y="1412489"/>
            <a:ext cx="2871095" cy="2156621"/>
          </a:xfrm>
        </p:spPr>
        <p:txBody>
          <a:bodyPr anchor="t">
            <a:normAutofit/>
          </a:bodyPr>
          <a:lstStyle/>
          <a:p>
            <a:r>
              <a:rPr lang="en-US" sz="3600" b="1">
                <a:solidFill>
                  <a:srgbClr val="FFFFFF"/>
                </a:solidFill>
              </a:rPr>
              <a:t>Output:</a:t>
            </a:r>
            <a:endParaRPr lang="en-US" sz="3600">
              <a:solidFill>
                <a:srgbClr val="FFFFFF"/>
              </a:solidFill>
            </a:endParaRPr>
          </a:p>
        </p:txBody>
      </p:sp>
      <p:sp>
        <p:nvSpPr>
          <p:cNvPr id="3" name="Content Placeholder 2">
            <a:extLst>
              <a:ext uri="{FF2B5EF4-FFF2-40B4-BE49-F238E27FC236}">
                <a16:creationId xmlns:a16="http://schemas.microsoft.com/office/drawing/2014/main" id="{B4443700-E8F9-CB9A-D782-DB33FF1FE658}"/>
              </a:ext>
            </a:extLst>
          </p:cNvPr>
          <p:cNvSpPr>
            <a:spLocks noGrp="1"/>
          </p:cNvSpPr>
          <p:nvPr>
            <p:ph sz="half" idx="1"/>
          </p:nvPr>
        </p:nvSpPr>
        <p:spPr>
          <a:xfrm>
            <a:off x="5198993" y="1412489"/>
            <a:ext cx="2926080" cy="4363844"/>
          </a:xfrm>
        </p:spPr>
        <p:txBody>
          <a:bodyPr>
            <a:normAutofit/>
          </a:bodyPr>
          <a:lstStyle/>
          <a:p>
            <a:pPr marL="0" indent="0">
              <a:buNone/>
            </a:pPr>
            <a:r>
              <a:rPr lang="en-US" sz="2000"/>
              <a:t>  info =  struct with fields:</a:t>
            </a:r>
          </a:p>
          <a:p>
            <a:pPr marL="0" indent="0">
              <a:buNone/>
            </a:pPr>
            <a:r>
              <a:rPr lang="en-US" sz="2000"/>
              <a:t>  RiseTime: 3.3821</a:t>
            </a:r>
          </a:p>
          <a:p>
            <a:pPr marL="0" indent="0">
              <a:buNone/>
            </a:pPr>
            <a:r>
              <a:rPr lang="en-US" sz="2000"/>
              <a:t>  TransientTime: 15.7480</a:t>
            </a:r>
          </a:p>
          <a:p>
            <a:pPr marL="0" indent="0">
              <a:buNone/>
            </a:pPr>
            <a:r>
              <a:rPr lang="en-US" sz="2000"/>
              <a:t>  SettlingTime: 15.5520</a:t>
            </a:r>
          </a:p>
          <a:p>
            <a:pPr marL="0" indent="0">
              <a:buNone/>
            </a:pPr>
            <a:r>
              <a:rPr lang="en-US" sz="2000"/>
              <a:t>  SettlingMin: 0.9046</a:t>
            </a:r>
          </a:p>
          <a:p>
            <a:pPr marL="0" indent="0">
              <a:buNone/>
            </a:pPr>
            <a:r>
              <a:rPr lang="en-US" sz="2000"/>
              <a:t>  SettlingMax: 1.0663</a:t>
            </a:r>
          </a:p>
          <a:p>
            <a:pPr marL="0" indent="0">
              <a:buNone/>
            </a:pPr>
            <a:r>
              <a:rPr lang="en-US" sz="2000"/>
              <a:t>  Overshoot: 6.6288</a:t>
            </a:r>
          </a:p>
          <a:p>
            <a:pPr marL="0" indent="0">
              <a:buNone/>
            </a:pPr>
            <a:endParaRPr lang="en-US" sz="2000"/>
          </a:p>
        </p:txBody>
      </p:sp>
      <p:sp>
        <p:nvSpPr>
          <p:cNvPr id="4" name="Content Placeholder 3">
            <a:extLst>
              <a:ext uri="{FF2B5EF4-FFF2-40B4-BE49-F238E27FC236}">
                <a16:creationId xmlns:a16="http://schemas.microsoft.com/office/drawing/2014/main" id="{3904D2C8-773A-C2CA-2757-D6E6A2CABCDB}"/>
              </a:ext>
            </a:extLst>
          </p:cNvPr>
          <p:cNvSpPr>
            <a:spLocks noGrp="1"/>
          </p:cNvSpPr>
          <p:nvPr>
            <p:ph sz="half" idx="2"/>
          </p:nvPr>
        </p:nvSpPr>
        <p:spPr>
          <a:xfrm>
            <a:off x="8451604" y="1412489"/>
            <a:ext cx="2926080" cy="4363844"/>
          </a:xfrm>
        </p:spPr>
        <p:txBody>
          <a:bodyPr>
            <a:normAutofit/>
          </a:bodyPr>
          <a:lstStyle/>
          <a:p>
            <a:pPr marL="0" indent="0">
              <a:buNone/>
            </a:pPr>
            <a:r>
              <a:rPr lang="en-US" sz="2000"/>
              <a:t>  Undershoot: 0</a:t>
            </a:r>
          </a:p>
          <a:p>
            <a:pPr marL="0" indent="0">
              <a:buNone/>
            </a:pPr>
            <a:r>
              <a:rPr lang="en-US" sz="2000"/>
              <a:t>   Peak: 1.0663</a:t>
            </a:r>
          </a:p>
          <a:p>
            <a:pPr marL="0" indent="0">
              <a:buNone/>
            </a:pPr>
            <a:r>
              <a:rPr lang="en-US" sz="2000"/>
              <a:t>   PeakTime: 8.0590</a:t>
            </a:r>
          </a:p>
          <a:p>
            <a:pPr marL="0" indent="0">
              <a:buNone/>
            </a:pPr>
            <a:r>
              <a:rPr lang="en-US" sz="2000"/>
              <a:t>   poles =</a:t>
            </a:r>
          </a:p>
          <a:p>
            <a:pPr marL="0" indent="0">
              <a:buNone/>
            </a:pPr>
            <a:r>
              <a:rPr lang="en-US" sz="2000"/>
              <a:t>    -0.2857 + 0.1166i</a:t>
            </a:r>
          </a:p>
          <a:p>
            <a:pPr marL="0" indent="0">
              <a:buNone/>
            </a:pPr>
            <a:r>
              <a:rPr lang="en-US" sz="2000"/>
              <a:t>    -0.2857 - 0.1166i</a:t>
            </a:r>
          </a:p>
          <a:p>
            <a:pPr marL="0" indent="0">
              <a:buNone/>
            </a:pPr>
            <a:endParaRPr lang="en-US" sz="2000"/>
          </a:p>
        </p:txBody>
      </p:sp>
    </p:spTree>
    <p:extLst>
      <p:ext uri="{BB962C8B-B14F-4D97-AF65-F5344CB8AC3E}">
        <p14:creationId xmlns:p14="http://schemas.microsoft.com/office/powerpoint/2010/main" val="2892614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E90EB45-EEE9-4563-8179-65EF62AE0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E0954815-07CC-9BD0-8A56-76D3B809F4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7722" y="1505975"/>
            <a:ext cx="5372100" cy="3728037"/>
          </a:xfrm>
          <a:prstGeom prst="rect">
            <a:avLst/>
          </a:prstGeom>
        </p:spPr>
      </p:pic>
      <p:sp>
        <p:nvSpPr>
          <p:cNvPr id="17" name="Rectangle 16">
            <a:extLst>
              <a:ext uri="{FF2B5EF4-FFF2-40B4-BE49-F238E27FC236}">
                <a16:creationId xmlns:a16="http://schemas.microsoft.com/office/drawing/2014/main" id="{23D0EF74-AD1E-4FD9-914D-8EC9058EB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6CB045E-46D5-589E-07CC-88ECBAAF56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457" y="1505975"/>
            <a:ext cx="5372099" cy="3777328"/>
          </a:xfrm>
          <a:prstGeom prst="rect">
            <a:avLst/>
          </a:prstGeom>
        </p:spPr>
      </p:pic>
    </p:spTree>
    <p:extLst>
      <p:ext uri="{BB962C8B-B14F-4D97-AF65-F5344CB8AC3E}">
        <p14:creationId xmlns:p14="http://schemas.microsoft.com/office/powerpoint/2010/main" val="1633934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67D4E3-FF96-F6C8-4F71-861A27B80B41}"/>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b="1" kern="1200">
                <a:solidFill>
                  <a:srgbClr val="FFFFFF"/>
                </a:solidFill>
                <a:latin typeface="+mj-lt"/>
                <a:ea typeface="+mj-ea"/>
                <a:cs typeface="+mj-cs"/>
              </a:rPr>
              <a:t>PERFORMANCE COMPARISON TABLE</a:t>
            </a:r>
            <a:endParaRPr lang="en-US" sz="3700" kern="1200">
              <a:solidFill>
                <a:srgbClr val="FFFFFF"/>
              </a:solidFill>
              <a:latin typeface="+mj-lt"/>
              <a:ea typeface="+mj-ea"/>
              <a:cs typeface="+mj-cs"/>
            </a:endParaRPr>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988F5A60-EDA9-65D7-15A9-1CEF6516207E}"/>
                  </a:ext>
                </a:extLst>
              </p:cNvPr>
              <p:cNvGraphicFramePr>
                <a:graphicFrameLocks noGrp="1"/>
              </p:cNvGraphicFramePr>
              <p:nvPr>
                <p:extLst>
                  <p:ext uri="{D42A27DB-BD31-4B8C-83A1-F6EECF244321}">
                    <p14:modId xmlns:p14="http://schemas.microsoft.com/office/powerpoint/2010/main" val="1678987626"/>
                  </p:ext>
                </p:extLst>
              </p:nvPr>
            </p:nvGraphicFramePr>
            <p:xfrm>
              <a:off x="432225" y="2142191"/>
              <a:ext cx="11327553" cy="4100367"/>
            </p:xfrm>
            <a:graphic>
              <a:graphicData uri="http://schemas.openxmlformats.org/drawingml/2006/table">
                <a:tbl>
                  <a:tblPr firstRow="1" bandRow="1">
                    <a:tableStyleId>{073A0DAA-6AF3-43AB-8588-CEC1D06C72B9}</a:tableStyleId>
                  </a:tblPr>
                  <a:tblGrid>
                    <a:gridCol w="1867111">
                      <a:extLst>
                        <a:ext uri="{9D8B030D-6E8A-4147-A177-3AD203B41FA5}">
                          <a16:colId xmlns:a16="http://schemas.microsoft.com/office/drawing/2014/main" val="1798585490"/>
                        </a:ext>
                      </a:extLst>
                    </a:gridCol>
                    <a:gridCol w="1867111">
                      <a:extLst>
                        <a:ext uri="{9D8B030D-6E8A-4147-A177-3AD203B41FA5}">
                          <a16:colId xmlns:a16="http://schemas.microsoft.com/office/drawing/2014/main" val="3469489532"/>
                        </a:ext>
                      </a:extLst>
                    </a:gridCol>
                    <a:gridCol w="1991998">
                      <a:extLst>
                        <a:ext uri="{9D8B030D-6E8A-4147-A177-3AD203B41FA5}">
                          <a16:colId xmlns:a16="http://schemas.microsoft.com/office/drawing/2014/main" val="2940087401"/>
                        </a:ext>
                      </a:extLst>
                    </a:gridCol>
                    <a:gridCol w="1867111">
                      <a:extLst>
                        <a:ext uri="{9D8B030D-6E8A-4147-A177-3AD203B41FA5}">
                          <a16:colId xmlns:a16="http://schemas.microsoft.com/office/drawing/2014/main" val="3220052207"/>
                        </a:ext>
                      </a:extLst>
                    </a:gridCol>
                    <a:gridCol w="1867111">
                      <a:extLst>
                        <a:ext uri="{9D8B030D-6E8A-4147-A177-3AD203B41FA5}">
                          <a16:colId xmlns:a16="http://schemas.microsoft.com/office/drawing/2014/main" val="1339481704"/>
                        </a:ext>
                      </a:extLst>
                    </a:gridCol>
                    <a:gridCol w="1867111">
                      <a:extLst>
                        <a:ext uri="{9D8B030D-6E8A-4147-A177-3AD203B41FA5}">
                          <a16:colId xmlns:a16="http://schemas.microsoft.com/office/drawing/2014/main" val="1052365618"/>
                        </a:ext>
                      </a:extLst>
                    </a:gridCol>
                  </a:tblGrid>
                  <a:tr h="943505">
                    <a:tc>
                      <a:txBody>
                        <a:bodyPr/>
                        <a:lstStyle/>
                        <a:p>
                          <a:pPr algn="ctr"/>
                          <a:r>
                            <a:rPr lang="en-US" sz="2700" b="1" kern="1200">
                              <a:solidFill>
                                <a:schemeClr val="bg1"/>
                              </a:solidFill>
                              <a:effectLst/>
                              <a:latin typeface="Calibri" panose="020F0502020204030204" pitchFamily="34" charset="0"/>
                              <a:ea typeface="+mn-ea"/>
                              <a:cs typeface="Calibri" panose="020F0502020204030204" pitchFamily="34" charset="0"/>
                            </a:rPr>
                            <a:t>Parameter</a:t>
                          </a:r>
                          <a:endParaRPr lang="en-US" sz="2700" b="1">
                            <a:solidFill>
                              <a:schemeClr val="bg1"/>
                            </a:solidFill>
                            <a:latin typeface="Calibri" panose="020F0502020204030204" pitchFamily="34" charset="0"/>
                            <a:cs typeface="Calibri" panose="020F0502020204030204" pitchFamily="34" charset="0"/>
                          </a:endParaRPr>
                        </a:p>
                      </a:txBody>
                      <a:tcPr marL="101127" marR="101127" marT="50564" marB="50564"/>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Open Loop</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Closed Loop</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PI Controller</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PD Controller</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PID Controller</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extLst>
                      <a:ext uri="{0D108BD9-81ED-4DB2-BD59-A6C34878D82A}">
                        <a16:rowId xmlns:a16="http://schemas.microsoft.com/office/drawing/2014/main" val="1919393526"/>
                      </a:ext>
                    </a:extLst>
                  </a:tr>
                  <a:tr h="478670">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Rise Time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21.97 s</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10.98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3.19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4.39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3.38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extLst>
                      <a:ext uri="{0D108BD9-81ED-4DB2-BD59-A6C34878D82A}">
                        <a16:rowId xmlns:a16="http://schemas.microsoft.com/office/drawing/2014/main" val="4096292065"/>
                      </a:ext>
                    </a:extLst>
                  </a:tr>
                  <a:tr h="478670">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Settling Time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algn="ctr"/>
                          <a:r>
                            <a:rPr lang="en-US" sz="2200" b="0">
                              <a:solidFill>
                                <a:schemeClr val="tx1"/>
                              </a:solidFill>
                              <a:latin typeface="Calibri" panose="020F0502020204030204" pitchFamily="34" charset="0"/>
                              <a:cs typeface="Calibri" panose="020F0502020204030204" pitchFamily="34" charset="0"/>
                            </a:rPr>
                            <a:t>39.12 </a:t>
                          </a:r>
                        </a:p>
                      </a:txBody>
                      <a:tcPr marL="75846" marR="75846" marT="0" marB="0"/>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19.56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15.27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7.82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15.55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extLst>
                      <a:ext uri="{0D108BD9-81ED-4DB2-BD59-A6C34878D82A}">
                        <a16:rowId xmlns:a16="http://schemas.microsoft.com/office/drawing/2014/main" val="1556074498"/>
                      </a:ext>
                    </a:extLst>
                  </a:tr>
                  <a:tr h="478670">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Overshoot</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algn="ctr">
                            <a:lnSpc>
                              <a:spcPct val="115000"/>
                            </a:lnSpc>
                            <a:buNone/>
                          </a:pPr>
                          <a:r>
                            <a:rPr lang="en-US" sz="2200" b="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0%  </a:t>
                          </a:r>
                          <a:endParaRPr lang="en-US" sz="2200" b="0" kern="10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10534" marR="10534" marT="10534" marB="1053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0%</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6.70%</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0%</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6.63%</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extLst>
                      <a:ext uri="{0D108BD9-81ED-4DB2-BD59-A6C34878D82A}">
                        <a16:rowId xmlns:a16="http://schemas.microsoft.com/office/drawing/2014/main" val="2065601537"/>
                      </a:ext>
                    </a:extLst>
                  </a:tr>
                  <a:tr h="478670">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Peak Time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73.22 s</a:t>
                          </a:r>
                        </a:p>
                      </a:txBody>
                      <a:tcPr marL="10534" marR="10534" marT="10534" marB="10534"/>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36.61 s</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7.83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14.64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8.06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extLst>
                      <a:ext uri="{0D108BD9-81ED-4DB2-BD59-A6C34878D82A}">
                        <a16:rowId xmlns:a16="http://schemas.microsoft.com/office/drawing/2014/main" val="2440853243"/>
                      </a:ext>
                    </a:extLst>
                  </a:tr>
                  <a:tr h="426421">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Stability</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Stable</a:t>
                          </a:r>
                        </a:p>
                      </a:txBody>
                      <a:tcPr marL="75846" marR="75846" marT="0" marB="0"/>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Stable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Stable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Stable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Stable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extLst>
                      <a:ext uri="{0D108BD9-81ED-4DB2-BD59-A6C34878D82A}">
                        <a16:rowId xmlns:a16="http://schemas.microsoft.com/office/drawing/2014/main" val="1202507614"/>
                      </a:ext>
                    </a:extLst>
                  </a:tr>
                  <a:tr h="815761">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Poles</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en-US" sz="2200" b="0" i="1" kern="100" smtClean="0">
                                    <a:solidFill>
                                      <a:schemeClr val="tx1"/>
                                    </a:solidFill>
                                    <a:effectLst/>
                                    <a:latin typeface="Cambria Math" panose="02040503050406030204" pitchFamily="18" charset="0"/>
                                    <a:ea typeface="Calibri" panose="020F0502020204030204" pitchFamily="34" charset="0"/>
                                    <a:cs typeface="Arial" panose="020B0604020202020204" pitchFamily="34" charset="0"/>
                                  </a:rPr>
                                  <m:t>−0.1</m:t>
                                </m:r>
                              </m:oMath>
                            </m:oMathPara>
                          </a14:m>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-0.2</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-0.3 ± 0.1i</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-0.5, -0.1</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-0.2857 ± 0.1166i</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extLst>
                      <a:ext uri="{0D108BD9-81ED-4DB2-BD59-A6C34878D82A}">
                        <a16:rowId xmlns:a16="http://schemas.microsoft.com/office/drawing/2014/main" val="1924825812"/>
                      </a:ext>
                    </a:extLst>
                  </a:tr>
                </a:tbl>
              </a:graphicData>
            </a:graphic>
          </p:graphicFrame>
        </mc:Choice>
        <mc:Fallback>
          <p:graphicFrame>
            <p:nvGraphicFramePr>
              <p:cNvPr id="7" name="Table 6">
                <a:extLst>
                  <a:ext uri="{FF2B5EF4-FFF2-40B4-BE49-F238E27FC236}">
                    <a16:creationId xmlns:a16="http://schemas.microsoft.com/office/drawing/2014/main" id="{988F5A60-EDA9-65D7-15A9-1CEF6516207E}"/>
                  </a:ext>
                </a:extLst>
              </p:cNvPr>
              <p:cNvGraphicFramePr>
                <a:graphicFrameLocks noGrp="1"/>
              </p:cNvGraphicFramePr>
              <p:nvPr>
                <p:extLst>
                  <p:ext uri="{D42A27DB-BD31-4B8C-83A1-F6EECF244321}">
                    <p14:modId xmlns:p14="http://schemas.microsoft.com/office/powerpoint/2010/main" val="1678987626"/>
                  </p:ext>
                </p:extLst>
              </p:nvPr>
            </p:nvGraphicFramePr>
            <p:xfrm>
              <a:off x="432225" y="2142191"/>
              <a:ext cx="11327553" cy="4100367"/>
            </p:xfrm>
            <a:graphic>
              <a:graphicData uri="http://schemas.openxmlformats.org/drawingml/2006/table">
                <a:tbl>
                  <a:tblPr firstRow="1" bandRow="1">
                    <a:tableStyleId>{073A0DAA-6AF3-43AB-8588-CEC1D06C72B9}</a:tableStyleId>
                  </a:tblPr>
                  <a:tblGrid>
                    <a:gridCol w="1867111">
                      <a:extLst>
                        <a:ext uri="{9D8B030D-6E8A-4147-A177-3AD203B41FA5}">
                          <a16:colId xmlns:a16="http://schemas.microsoft.com/office/drawing/2014/main" val="1798585490"/>
                        </a:ext>
                      </a:extLst>
                    </a:gridCol>
                    <a:gridCol w="1867111">
                      <a:extLst>
                        <a:ext uri="{9D8B030D-6E8A-4147-A177-3AD203B41FA5}">
                          <a16:colId xmlns:a16="http://schemas.microsoft.com/office/drawing/2014/main" val="3469489532"/>
                        </a:ext>
                      </a:extLst>
                    </a:gridCol>
                    <a:gridCol w="1991998">
                      <a:extLst>
                        <a:ext uri="{9D8B030D-6E8A-4147-A177-3AD203B41FA5}">
                          <a16:colId xmlns:a16="http://schemas.microsoft.com/office/drawing/2014/main" val="2940087401"/>
                        </a:ext>
                      </a:extLst>
                    </a:gridCol>
                    <a:gridCol w="1867111">
                      <a:extLst>
                        <a:ext uri="{9D8B030D-6E8A-4147-A177-3AD203B41FA5}">
                          <a16:colId xmlns:a16="http://schemas.microsoft.com/office/drawing/2014/main" val="3220052207"/>
                        </a:ext>
                      </a:extLst>
                    </a:gridCol>
                    <a:gridCol w="1867111">
                      <a:extLst>
                        <a:ext uri="{9D8B030D-6E8A-4147-A177-3AD203B41FA5}">
                          <a16:colId xmlns:a16="http://schemas.microsoft.com/office/drawing/2014/main" val="1339481704"/>
                        </a:ext>
                      </a:extLst>
                    </a:gridCol>
                    <a:gridCol w="1867111">
                      <a:extLst>
                        <a:ext uri="{9D8B030D-6E8A-4147-A177-3AD203B41FA5}">
                          <a16:colId xmlns:a16="http://schemas.microsoft.com/office/drawing/2014/main" val="1052365618"/>
                        </a:ext>
                      </a:extLst>
                    </a:gridCol>
                  </a:tblGrid>
                  <a:tr h="943505">
                    <a:tc>
                      <a:txBody>
                        <a:bodyPr/>
                        <a:lstStyle/>
                        <a:p>
                          <a:pPr algn="ctr"/>
                          <a:r>
                            <a:rPr lang="en-US" sz="2700" b="1" kern="1200">
                              <a:solidFill>
                                <a:schemeClr val="bg1"/>
                              </a:solidFill>
                              <a:effectLst/>
                              <a:latin typeface="Calibri" panose="020F0502020204030204" pitchFamily="34" charset="0"/>
                              <a:ea typeface="+mn-ea"/>
                              <a:cs typeface="Calibri" panose="020F0502020204030204" pitchFamily="34" charset="0"/>
                            </a:rPr>
                            <a:t>Parameter</a:t>
                          </a:r>
                          <a:endParaRPr lang="en-US" sz="2700" b="1">
                            <a:solidFill>
                              <a:schemeClr val="bg1"/>
                            </a:solidFill>
                            <a:latin typeface="Calibri" panose="020F0502020204030204" pitchFamily="34" charset="0"/>
                            <a:cs typeface="Calibri" panose="020F0502020204030204" pitchFamily="34" charset="0"/>
                          </a:endParaRPr>
                        </a:p>
                      </a:txBody>
                      <a:tcPr marL="101127" marR="101127" marT="50564" marB="50564"/>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Open Loop</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Closed Loop</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PI Controller</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PD Controller</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700" b="1" kern="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PID Controller</a:t>
                          </a:r>
                          <a:endParaRPr lang="en-US" sz="2700" b="1" kern="1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extLst>
                      <a:ext uri="{0D108BD9-81ED-4DB2-BD59-A6C34878D82A}">
                        <a16:rowId xmlns:a16="http://schemas.microsoft.com/office/drawing/2014/main" val="1919393526"/>
                      </a:ext>
                    </a:extLst>
                  </a:tr>
                  <a:tr h="478670">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Rise Time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21.97 s</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10.98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3.19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4.39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3.38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extLst>
                      <a:ext uri="{0D108BD9-81ED-4DB2-BD59-A6C34878D82A}">
                        <a16:rowId xmlns:a16="http://schemas.microsoft.com/office/drawing/2014/main" val="4096292065"/>
                      </a:ext>
                    </a:extLst>
                  </a:tr>
                  <a:tr h="478670">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Settling Time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algn="ctr"/>
                          <a:r>
                            <a:rPr lang="en-US" sz="2200" b="0">
                              <a:solidFill>
                                <a:schemeClr val="tx1"/>
                              </a:solidFill>
                              <a:latin typeface="Calibri" panose="020F0502020204030204" pitchFamily="34" charset="0"/>
                              <a:cs typeface="Calibri" panose="020F0502020204030204" pitchFamily="34" charset="0"/>
                            </a:rPr>
                            <a:t>39.12 </a:t>
                          </a:r>
                        </a:p>
                      </a:txBody>
                      <a:tcPr marL="75846" marR="75846" marT="0" marB="0"/>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19.56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15.27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7.82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15.55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extLst>
                      <a:ext uri="{0D108BD9-81ED-4DB2-BD59-A6C34878D82A}">
                        <a16:rowId xmlns:a16="http://schemas.microsoft.com/office/drawing/2014/main" val="1556074498"/>
                      </a:ext>
                    </a:extLst>
                  </a:tr>
                  <a:tr h="478670">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Overshoot</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algn="ctr">
                            <a:lnSpc>
                              <a:spcPct val="115000"/>
                            </a:lnSpc>
                            <a:buNone/>
                          </a:pPr>
                          <a:r>
                            <a:rPr lang="en-US" sz="2200" b="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0%  </a:t>
                          </a:r>
                          <a:endParaRPr lang="en-US" sz="2200" b="0" kern="100">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txBody>
                      <a:tcPr marL="10534" marR="10534" marT="10534" marB="1053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0%</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6.70%</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0%</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6.63%</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extLst>
                      <a:ext uri="{0D108BD9-81ED-4DB2-BD59-A6C34878D82A}">
                        <a16:rowId xmlns:a16="http://schemas.microsoft.com/office/drawing/2014/main" val="2065601537"/>
                      </a:ext>
                    </a:extLst>
                  </a:tr>
                  <a:tr h="478670">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Peak Time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73.22 s</a:t>
                          </a:r>
                        </a:p>
                      </a:txBody>
                      <a:tcPr marL="10534" marR="10534" marT="10534" marB="10534"/>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36.61 s</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7.83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14.64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8.06 s</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extLst>
                      <a:ext uri="{0D108BD9-81ED-4DB2-BD59-A6C34878D82A}">
                        <a16:rowId xmlns:a16="http://schemas.microsoft.com/office/drawing/2014/main" val="2440853243"/>
                      </a:ext>
                    </a:extLst>
                  </a:tr>
                  <a:tr h="426421">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Stability</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pPr marL="0" marR="0" algn="ctr">
                            <a:lnSpc>
                              <a:spcPct val="115000"/>
                            </a:lnSpc>
                            <a:spcAft>
                              <a:spcPts val="800"/>
                            </a:spcAft>
                            <a:buNone/>
                          </a:pPr>
                          <a:r>
                            <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Stable</a:t>
                          </a:r>
                        </a:p>
                      </a:txBody>
                      <a:tcPr marL="75846" marR="75846" marT="0" marB="0"/>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Stable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Stable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Stable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tc>
                      <a:txBody>
                        <a:bodyPr/>
                        <a:lstStyle/>
                        <a:p>
                          <a:pPr marL="0" marR="0">
                            <a:lnSpc>
                              <a:spcPct val="115000"/>
                            </a:lnSpc>
                            <a:spcAft>
                              <a:spcPts val="800"/>
                            </a:spcAft>
                            <a:buNone/>
                          </a:pPr>
                          <a:r>
                            <a:rPr lang="en-US" sz="2200" b="0" i="1"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Stable</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10534" marR="10534" marT="10534" marB="10534" anchor="ctr"/>
                    </a:tc>
                    <a:extLst>
                      <a:ext uri="{0D108BD9-81ED-4DB2-BD59-A6C34878D82A}">
                        <a16:rowId xmlns:a16="http://schemas.microsoft.com/office/drawing/2014/main" val="1202507614"/>
                      </a:ext>
                    </a:extLst>
                  </a:tr>
                  <a:tr h="815761">
                    <a:tc>
                      <a:txBody>
                        <a:bodyPr/>
                        <a:lstStyle/>
                        <a:p>
                          <a:pPr marL="0" marR="0" algn="ctr">
                            <a:lnSpc>
                              <a:spcPct val="115000"/>
                            </a:lnSpc>
                            <a:spcAft>
                              <a:spcPts val="800"/>
                            </a:spcAft>
                            <a:buNone/>
                          </a:pPr>
                          <a:r>
                            <a:rPr lang="en-US" sz="2200" b="0" kern="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Poles</a:t>
                          </a:r>
                          <a:endParaRPr lang="en-US" sz="2200" b="0" kern="1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5846" marR="75846" marT="0" marB="0"/>
                    </a:tc>
                    <a:tc>
                      <a:txBody>
                        <a:bodyPr/>
                        <a:lstStyle/>
                        <a:p>
                          <a:endParaRPr lang="en-US"/>
                        </a:p>
                      </a:txBody>
                      <a:tcPr marL="75846" marR="75846" marT="0" marB="0">
                        <a:blipFill>
                          <a:blip r:embed="rId2"/>
                          <a:stretch>
                            <a:fillRect l="-100654" t="-411194" r="-408824" b="-8955"/>
                          </a:stretch>
                        </a:blipFill>
                      </a:tcPr>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-0.2</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-0.3 ± 0.1i</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kern="1200">
                              <a:solidFill>
                                <a:schemeClr val="tx1"/>
                              </a:solidFill>
                              <a:effectLst/>
                              <a:latin typeface="Calibri" panose="020F0502020204030204" pitchFamily="34" charset="0"/>
                              <a:ea typeface="+mn-ea"/>
                              <a:cs typeface="Calibri" panose="020F0502020204030204" pitchFamily="34" charset="0"/>
                            </a:rPr>
                            <a:t>-0.5, -0.1</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tc>
                      <a:txBody>
                        <a:bodyPr/>
                        <a:lstStyle/>
                        <a:p>
                          <a:r>
                            <a:rPr lang="en-US" sz="2200" b="0" i="1" kern="1200">
                              <a:solidFill>
                                <a:schemeClr val="tx1"/>
                              </a:solidFill>
                              <a:effectLst/>
                              <a:latin typeface="Calibri" panose="020F0502020204030204" pitchFamily="34" charset="0"/>
                              <a:ea typeface="+mn-ea"/>
                              <a:cs typeface="Calibri" panose="020F0502020204030204" pitchFamily="34" charset="0"/>
                            </a:rPr>
                            <a:t>-0.2857 ± 0.1166i</a:t>
                          </a:r>
                          <a:endParaRPr lang="en-US" sz="2200" b="0">
                            <a:solidFill>
                              <a:schemeClr val="tx1"/>
                            </a:solidFill>
                            <a:latin typeface="Calibri" panose="020F0502020204030204" pitchFamily="34" charset="0"/>
                            <a:cs typeface="Calibri" panose="020F0502020204030204" pitchFamily="34" charset="0"/>
                          </a:endParaRPr>
                        </a:p>
                      </a:txBody>
                      <a:tcPr marL="101127" marR="101127" marT="50564" marB="50564"/>
                    </a:tc>
                    <a:extLst>
                      <a:ext uri="{0D108BD9-81ED-4DB2-BD59-A6C34878D82A}">
                        <a16:rowId xmlns:a16="http://schemas.microsoft.com/office/drawing/2014/main" val="1924825812"/>
                      </a:ext>
                    </a:extLst>
                  </a:tr>
                </a:tbl>
              </a:graphicData>
            </a:graphic>
          </p:graphicFrame>
        </mc:Fallback>
      </mc:AlternateContent>
    </p:spTree>
    <p:extLst>
      <p:ext uri="{BB962C8B-B14F-4D97-AF65-F5344CB8AC3E}">
        <p14:creationId xmlns:p14="http://schemas.microsoft.com/office/powerpoint/2010/main" val="3793815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C166B7-B276-F970-995D-B25439BF0B52}"/>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Open Loop System</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DFCE6422-98E9-5AB4-4512-7C05FD3899EC}"/>
              </a:ext>
            </a:extLst>
          </p:cNvPr>
          <p:cNvSpPr>
            <a:spLocks noGrp="1"/>
          </p:cNvSpPr>
          <p:nvPr>
            <p:ph sz="half" idx="1"/>
          </p:nvPr>
        </p:nvSpPr>
        <p:spPr>
          <a:xfrm>
            <a:off x="4810259" y="649480"/>
            <a:ext cx="6555347" cy="5546047"/>
          </a:xfrm>
        </p:spPr>
        <p:txBody>
          <a:bodyPr vert="horz" lIns="91440" tIns="45720" rIns="91440" bIns="45720" rtlCol="0" anchor="ctr">
            <a:normAutofit/>
          </a:bodyPr>
          <a:lstStyle/>
          <a:p>
            <a:pPr marL="0"/>
            <a:r>
              <a:rPr lang="en-US" sz="2000" b="1"/>
              <a:t>Characteristics:</a:t>
            </a:r>
            <a:endParaRPr lang="en-US" sz="2000"/>
          </a:p>
          <a:p>
            <a:pPr lvl="0"/>
            <a:r>
              <a:rPr lang="en-US" sz="2000"/>
              <a:t>Very slow response </a:t>
            </a:r>
          </a:p>
          <a:p>
            <a:pPr lvl="0"/>
            <a:r>
              <a:rPr lang="en-US" sz="2000"/>
              <a:t>Large settling time </a:t>
            </a:r>
          </a:p>
          <a:p>
            <a:pPr lvl="0"/>
            <a:r>
              <a:rPr lang="en-US" sz="2000"/>
              <a:t>No control action </a:t>
            </a:r>
          </a:p>
          <a:p>
            <a:pPr marL="0"/>
            <a:r>
              <a:rPr lang="en-US" sz="2000" b="1"/>
              <a:t>Observation:</a:t>
            </a:r>
            <a:endParaRPr lang="en-US" sz="2000"/>
          </a:p>
          <a:p>
            <a:pPr lvl="0"/>
            <a:r>
              <a:rPr lang="en-US" sz="2000"/>
              <a:t>Temperature changes slowly </a:t>
            </a:r>
          </a:p>
          <a:p>
            <a:r>
              <a:rPr lang="en-US" sz="2000"/>
              <a:t>Poor performance</a:t>
            </a:r>
          </a:p>
        </p:txBody>
      </p:sp>
    </p:spTree>
    <p:extLst>
      <p:ext uri="{BB962C8B-B14F-4D97-AF65-F5344CB8AC3E}">
        <p14:creationId xmlns:p14="http://schemas.microsoft.com/office/powerpoint/2010/main" val="1544940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B4B8A3-AE26-8A94-0A2D-35BD1780504F}"/>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Closed Loop System</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0E12D464-10FD-9175-AEE0-1DFDE4D52F60}"/>
              </a:ext>
            </a:extLst>
          </p:cNvPr>
          <p:cNvSpPr>
            <a:spLocks noGrp="1"/>
          </p:cNvSpPr>
          <p:nvPr>
            <p:ph sz="half" idx="1"/>
          </p:nvPr>
        </p:nvSpPr>
        <p:spPr>
          <a:xfrm>
            <a:off x="4810259" y="649480"/>
            <a:ext cx="6555347" cy="5546047"/>
          </a:xfrm>
        </p:spPr>
        <p:txBody>
          <a:bodyPr vert="horz" lIns="91440" tIns="45720" rIns="91440" bIns="45720" rtlCol="0" anchor="ctr">
            <a:normAutofit/>
          </a:bodyPr>
          <a:lstStyle/>
          <a:p>
            <a:pPr marL="0"/>
            <a:r>
              <a:rPr lang="en-US" sz="2000" b="1"/>
              <a:t>Improvements:</a:t>
            </a:r>
            <a:endParaRPr lang="en-US" sz="2000"/>
          </a:p>
          <a:p>
            <a:pPr lvl="0"/>
            <a:r>
              <a:rPr lang="en-US" sz="2000"/>
              <a:t>Faster than open loop </a:t>
            </a:r>
          </a:p>
          <a:p>
            <a:pPr lvl="0"/>
            <a:r>
              <a:rPr lang="en-US" sz="2000"/>
              <a:t>Better stability </a:t>
            </a:r>
          </a:p>
          <a:p>
            <a:pPr lvl="0"/>
            <a:r>
              <a:rPr lang="en-US" sz="2000"/>
              <a:t>Reduced response time </a:t>
            </a:r>
          </a:p>
          <a:p>
            <a:pPr marL="0"/>
            <a:r>
              <a:rPr lang="en-US" sz="2000" b="1"/>
              <a:t>Observation:</a:t>
            </a:r>
            <a:endParaRPr lang="en-US" sz="2000"/>
          </a:p>
          <a:p>
            <a:pPr lvl="0"/>
            <a:r>
              <a:rPr lang="en-US" sz="2000"/>
              <a:t>Feedback improved system behavior</a:t>
            </a:r>
          </a:p>
          <a:p>
            <a:pPr marL="0"/>
            <a:endParaRPr lang="en-US" sz="2000"/>
          </a:p>
        </p:txBody>
      </p:sp>
    </p:spTree>
    <p:extLst>
      <p:ext uri="{BB962C8B-B14F-4D97-AF65-F5344CB8AC3E}">
        <p14:creationId xmlns:p14="http://schemas.microsoft.com/office/powerpoint/2010/main" val="805913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Rectangle 4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5B9F5E-4A1D-BC48-C27B-6719C8EE716D}"/>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PI Controller:</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21A04379-CDBE-DC85-1EB8-92F8067F416A}"/>
              </a:ext>
            </a:extLst>
          </p:cNvPr>
          <p:cNvSpPr>
            <a:spLocks noGrp="1"/>
          </p:cNvSpPr>
          <p:nvPr>
            <p:ph sz="half" idx="1"/>
          </p:nvPr>
        </p:nvSpPr>
        <p:spPr>
          <a:xfrm>
            <a:off x="4810259" y="649480"/>
            <a:ext cx="6555347" cy="5546047"/>
          </a:xfrm>
        </p:spPr>
        <p:txBody>
          <a:bodyPr vert="horz" lIns="91440" tIns="45720" rIns="91440" bIns="45720" rtlCol="0" anchor="ctr">
            <a:normAutofit/>
          </a:bodyPr>
          <a:lstStyle/>
          <a:p>
            <a:pPr marL="0"/>
            <a:r>
              <a:rPr lang="en-US" sz="2000" b="1"/>
              <a:t>Improvements:</a:t>
            </a:r>
          </a:p>
          <a:p>
            <a:pPr lvl="0"/>
            <a:r>
              <a:rPr lang="en-US" sz="2000"/>
              <a:t>Very fast rise time </a:t>
            </a:r>
          </a:p>
          <a:p>
            <a:pPr lvl="0"/>
            <a:r>
              <a:rPr lang="en-US" sz="2000"/>
              <a:t>Reduced steady-state error </a:t>
            </a:r>
          </a:p>
          <a:p>
            <a:pPr marL="0"/>
            <a:r>
              <a:rPr lang="en-US" sz="2000" b="1"/>
              <a:t>Problem:</a:t>
            </a:r>
          </a:p>
          <a:p>
            <a:pPr lvl="0"/>
            <a:r>
              <a:rPr lang="en-US" sz="2000"/>
              <a:t>Some overshoot introduced </a:t>
            </a:r>
          </a:p>
          <a:p>
            <a:pPr marL="0"/>
            <a:r>
              <a:rPr lang="en-US" sz="2000" b="1"/>
              <a:t>Observation:</a:t>
            </a:r>
          </a:p>
          <a:p>
            <a:pPr lvl="0"/>
            <a:r>
              <a:rPr lang="en-US" sz="2000"/>
              <a:t>System becomes faster but slightly oscillatory</a:t>
            </a:r>
          </a:p>
          <a:p>
            <a:pPr marL="0"/>
            <a:endParaRPr lang="en-US" sz="2000"/>
          </a:p>
        </p:txBody>
      </p:sp>
    </p:spTree>
    <p:extLst>
      <p:ext uri="{BB962C8B-B14F-4D97-AF65-F5344CB8AC3E}">
        <p14:creationId xmlns:p14="http://schemas.microsoft.com/office/powerpoint/2010/main" val="2750881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91A42-7418-2402-CE03-ABC9FB3419EE}"/>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PD Controller:</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2D98A32E-1DE3-8042-6CA7-C7A5340C180B}"/>
              </a:ext>
            </a:extLst>
          </p:cNvPr>
          <p:cNvSpPr>
            <a:spLocks noGrp="1"/>
          </p:cNvSpPr>
          <p:nvPr>
            <p:ph sz="half" idx="1"/>
          </p:nvPr>
        </p:nvSpPr>
        <p:spPr>
          <a:xfrm>
            <a:off x="4810259" y="649480"/>
            <a:ext cx="6555347" cy="5546047"/>
          </a:xfrm>
        </p:spPr>
        <p:txBody>
          <a:bodyPr vert="horz" lIns="91440" tIns="45720" rIns="91440" bIns="45720" rtlCol="0" anchor="ctr">
            <a:normAutofit/>
          </a:bodyPr>
          <a:lstStyle/>
          <a:p>
            <a:pPr marL="0"/>
            <a:r>
              <a:rPr lang="en-US" sz="2000" b="1"/>
              <a:t>Improvements:</a:t>
            </a:r>
          </a:p>
          <a:p>
            <a:pPr lvl="0"/>
            <a:r>
              <a:rPr lang="en-US" sz="2000"/>
              <a:t>Best settling time </a:t>
            </a:r>
          </a:p>
          <a:p>
            <a:pPr lvl="0"/>
            <a:r>
              <a:rPr lang="en-US" sz="2000"/>
              <a:t>No overshoot </a:t>
            </a:r>
          </a:p>
          <a:p>
            <a:pPr lvl="0"/>
            <a:r>
              <a:rPr lang="en-US" sz="2000"/>
              <a:t>Stable response </a:t>
            </a:r>
          </a:p>
          <a:p>
            <a:r>
              <a:rPr lang="en-US" sz="2000" b="1"/>
              <a:t>Observation:</a:t>
            </a:r>
          </a:p>
          <a:p>
            <a:pPr marL="0" lvl="0"/>
            <a:r>
              <a:rPr lang="en-US" sz="2000"/>
              <a:t>PD gives smooth and stable behavior </a:t>
            </a:r>
          </a:p>
          <a:p>
            <a:endParaRPr lang="en-US" sz="2000"/>
          </a:p>
        </p:txBody>
      </p:sp>
    </p:spTree>
    <p:extLst>
      <p:ext uri="{BB962C8B-B14F-4D97-AF65-F5344CB8AC3E}">
        <p14:creationId xmlns:p14="http://schemas.microsoft.com/office/powerpoint/2010/main" val="1852942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F95D18-C9EB-DFC6-4AA2-900BC88738E1}"/>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PID Controller:</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5288C972-3483-692C-4F9D-B8DB117A4CEC}"/>
              </a:ext>
            </a:extLst>
          </p:cNvPr>
          <p:cNvSpPr>
            <a:spLocks noGrp="1"/>
          </p:cNvSpPr>
          <p:nvPr>
            <p:ph sz="half" idx="1"/>
          </p:nvPr>
        </p:nvSpPr>
        <p:spPr>
          <a:xfrm>
            <a:off x="4810259" y="649480"/>
            <a:ext cx="6555347" cy="5546047"/>
          </a:xfrm>
        </p:spPr>
        <p:txBody>
          <a:bodyPr vert="horz" lIns="91440" tIns="45720" rIns="91440" bIns="45720" rtlCol="0" anchor="ctr">
            <a:normAutofit/>
          </a:bodyPr>
          <a:lstStyle/>
          <a:p>
            <a:pPr marL="0"/>
            <a:r>
              <a:rPr lang="en-US" sz="2000" b="1"/>
              <a:t>Improvements:</a:t>
            </a:r>
          </a:p>
          <a:p>
            <a:pPr lvl="0"/>
            <a:r>
              <a:rPr lang="en-US" sz="2000"/>
              <a:t>Fast response </a:t>
            </a:r>
          </a:p>
          <a:p>
            <a:pPr lvl="0"/>
            <a:r>
              <a:rPr lang="en-US" sz="2000"/>
              <a:t>Good accuracy </a:t>
            </a:r>
          </a:p>
          <a:p>
            <a:pPr lvl="0"/>
            <a:r>
              <a:rPr lang="en-US" sz="2000"/>
              <a:t>Balanced control </a:t>
            </a:r>
          </a:p>
          <a:p>
            <a:pPr marL="0"/>
            <a:r>
              <a:rPr lang="en-US" sz="2000" b="1"/>
              <a:t>Problem:</a:t>
            </a:r>
          </a:p>
          <a:p>
            <a:pPr lvl="0"/>
            <a:r>
              <a:rPr lang="en-US" sz="2000"/>
              <a:t>Small overshoot still exists </a:t>
            </a:r>
          </a:p>
          <a:p>
            <a:pPr marL="0"/>
            <a:r>
              <a:rPr lang="en-US" sz="2000" b="1"/>
              <a:t>Observation:</a:t>
            </a:r>
          </a:p>
          <a:p>
            <a:pPr lvl="0"/>
            <a:r>
              <a:rPr lang="en-US" sz="2000"/>
              <a:t>PID gives balanced overall performance</a:t>
            </a:r>
          </a:p>
          <a:p>
            <a:endParaRPr lang="en-US" sz="2000"/>
          </a:p>
        </p:txBody>
      </p:sp>
    </p:spTree>
    <p:extLst>
      <p:ext uri="{BB962C8B-B14F-4D97-AF65-F5344CB8AC3E}">
        <p14:creationId xmlns:p14="http://schemas.microsoft.com/office/powerpoint/2010/main" val="24291664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Rectangle 3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481105-DF23-110A-D2A3-0452AAFAA13D}"/>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Performance Analysis:</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B137B64C-5763-CF21-C80B-8D3CFC0A985F}"/>
              </a:ext>
            </a:extLst>
          </p:cNvPr>
          <p:cNvSpPr>
            <a:spLocks noGrp="1"/>
          </p:cNvSpPr>
          <p:nvPr>
            <p:ph sz="half" idx="1"/>
          </p:nvPr>
        </p:nvSpPr>
        <p:spPr>
          <a:xfrm>
            <a:off x="4810259" y="649480"/>
            <a:ext cx="6555347" cy="5546047"/>
          </a:xfrm>
        </p:spPr>
        <p:txBody>
          <a:bodyPr vert="horz" lIns="91440" tIns="45720" rIns="91440" bIns="45720" rtlCol="0" anchor="ctr">
            <a:normAutofit/>
          </a:bodyPr>
          <a:lstStyle/>
          <a:p>
            <a:pPr marL="0"/>
            <a:r>
              <a:rPr lang="en-US" sz="2000"/>
              <a:t>The open-loop system showed slow response and large settling time. Introducing feedback in the closed-loop system improved stability and response speed. The PI controller significantly reduced rise time but introduced overshoot. The PD controller provided the best settling time with zero overshoot, making the system highly stable. The PID controller achieved balanced overall performance with improved speed and acceptable overshoot. Therefore, controller implementation greatly improved the temperature control system performance.</a:t>
            </a:r>
          </a:p>
          <a:p>
            <a:endParaRPr lang="en-US" sz="2000"/>
          </a:p>
        </p:txBody>
      </p:sp>
    </p:spTree>
    <p:extLst>
      <p:ext uri="{BB962C8B-B14F-4D97-AF65-F5344CB8AC3E}">
        <p14:creationId xmlns:p14="http://schemas.microsoft.com/office/powerpoint/2010/main" val="85744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4C5253-6053-1285-84C0-09D28EA27DA2}"/>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Conclusion:</a:t>
            </a:r>
            <a:endParaRPr lang="en-US" sz="40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4EFBED81-A54B-3378-C63E-E648CBA8EE80}"/>
              </a:ext>
            </a:extLst>
          </p:cNvPr>
          <p:cNvSpPr>
            <a:spLocks noGrp="1"/>
          </p:cNvSpPr>
          <p:nvPr>
            <p:ph sz="half" idx="1"/>
          </p:nvPr>
        </p:nvSpPr>
        <p:spPr>
          <a:xfrm>
            <a:off x="4810259" y="649480"/>
            <a:ext cx="6555347" cy="5546047"/>
          </a:xfrm>
        </p:spPr>
        <p:txBody>
          <a:bodyPr vert="horz" lIns="91440" tIns="45720" rIns="91440" bIns="45720" rtlCol="0" anchor="ctr">
            <a:normAutofit/>
          </a:bodyPr>
          <a:lstStyle/>
          <a:p>
            <a:pPr marL="0"/>
            <a:r>
              <a:rPr lang="en-US" sz="2000"/>
              <a:t>The temperature control system was successfully analyzed using MATLAB. Open-loop and closed-loop systems were studied and different controllers were implemented. The controllers improved system response characteristics such as rise time, settling time, and stability. Among all controllers, the PD controller showed the best settling performance with zero overshoot, while the PID controller provided balanced overall control performance</a:t>
            </a:r>
          </a:p>
        </p:txBody>
      </p:sp>
    </p:spTree>
    <p:extLst>
      <p:ext uri="{BB962C8B-B14F-4D97-AF65-F5344CB8AC3E}">
        <p14:creationId xmlns:p14="http://schemas.microsoft.com/office/powerpoint/2010/main" val="2251784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TotalTime>
  <Words>1228</Words>
  <Application>Microsoft Office PowerPoint</Application>
  <PresentationFormat>Widescreen</PresentationFormat>
  <Paragraphs>293</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Calibri</vt:lpstr>
      <vt:lpstr>Cambria Math</vt:lpstr>
      <vt:lpstr>Office Theme</vt:lpstr>
      <vt:lpstr>TEMPERATURE CONTROL SYSTEM MATLAB ANALYSIS</vt:lpstr>
      <vt:lpstr>Open loop system :</vt:lpstr>
      <vt:lpstr>Output:</vt:lpstr>
      <vt:lpstr>PowerPoint Presentation</vt:lpstr>
      <vt:lpstr>Closed loop system :</vt:lpstr>
      <vt:lpstr>Output:</vt:lpstr>
      <vt:lpstr>PowerPoint Presentation</vt:lpstr>
      <vt:lpstr>PI Controller:</vt:lpstr>
      <vt:lpstr>PI Controller:</vt:lpstr>
      <vt:lpstr>Output:</vt:lpstr>
      <vt:lpstr>PowerPoint Presentation</vt:lpstr>
      <vt:lpstr>PD Controller:</vt:lpstr>
      <vt:lpstr>PD Controller:</vt:lpstr>
      <vt:lpstr>Output:</vt:lpstr>
      <vt:lpstr>PowerPoint Presentation</vt:lpstr>
      <vt:lpstr>PID Controller:</vt:lpstr>
      <vt:lpstr>PID Controller:</vt:lpstr>
      <vt:lpstr>Output:</vt:lpstr>
      <vt:lpstr>PowerPoint Presentation</vt:lpstr>
      <vt:lpstr>PERFORMANCE COMPARISON TABLE</vt:lpstr>
      <vt:lpstr>Open Loop System</vt:lpstr>
      <vt:lpstr>Closed Loop System</vt:lpstr>
      <vt:lpstr>PI Controller:</vt:lpstr>
      <vt:lpstr>PD Controller:</vt:lpstr>
      <vt:lpstr>PID Controller:</vt:lpstr>
      <vt:lpstr>Performance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1</cp:revision>
  <dcterms:created xsi:type="dcterms:W3CDTF">2026-05-18T14:50:27Z</dcterms:created>
  <dcterms:modified xsi:type="dcterms:W3CDTF">2026-05-18T18:33:18Z</dcterms:modified>
</cp:coreProperties>
</file>